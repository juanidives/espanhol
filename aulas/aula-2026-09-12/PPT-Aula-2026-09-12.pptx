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60" r:id="rId4"/>
    <p:sldId id="284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6" r:id="rId18"/>
    <p:sldId id="277" r:id="rId19"/>
    <p:sldId id="278" r:id="rId20"/>
    <p:sldId id="279" r:id="rId21"/>
    <p:sldId id="280" r:id="rId22"/>
    <p:sldId id="281" r:id="rId23"/>
    <p:sldId id="283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22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0"/>
            <a:ext cx="11055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4B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 L A  ·  E S P A Ñ O L  ·  A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783080"/>
            <a:ext cx="110550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CUADERNO ES </a:t>
            </a:r>
            <a:r>
              <a:rPr lang="en-US" sz="6000" b="1" dirty="0">
                <a:solidFill>
                  <a:srgbClr val="B8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0040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Pretérito Perfecto Simple  ·  Pretérito Imperfecto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79476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de septiembre de 2026  ·  90 minutos  ·  Lucía Paredes, San José (Costa Rica)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DE HOY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VAMOS A...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0292" cy="403098"/>
          </a:xfrm>
          <a:prstGeom prst="rect">
            <a:avLst/>
          </a:prstGeom>
          <a:solidFill>
            <a:srgbClr val="6D4F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49808" y="1536192"/>
            <a:ext cx="10826496" cy="40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 </a:t>
            </a: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pasó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5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Pretérito Perfecto Simple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85594"/>
            <a:ext cx="50292" cy="403098"/>
          </a:xfrm>
          <a:prstGeom prst="rect">
            <a:avLst/>
          </a:prstGeom>
          <a:solidFill>
            <a:srgbClr val="C25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749808" y="2085594"/>
            <a:ext cx="10826496" cy="40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Describir </a:t>
            </a: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era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5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Pretérito Imperfecto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634996"/>
            <a:ext cx="50292" cy="403098"/>
          </a:xfrm>
          <a:prstGeom prst="rect">
            <a:avLst/>
          </a:prstGeom>
          <a:solidFill>
            <a:srgbClr val="6D4F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749808" y="2634996"/>
            <a:ext cx="10826496" cy="40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</a:t>
            </a: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usar cada uno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👋 CONOCÉ A LUCÍA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LUCÍA PAREDES</a:t>
            </a:r>
            <a:endParaRPr lang="en-US" sz="3000" dirty="0"/>
          </a:p>
        </p:txBody>
      </p:sp>
      <p:pic>
        <p:nvPicPr>
          <p:cNvPr id="4" name="Image 0" descr="/root/pptx/img/lucia-retra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20026" y="1371600"/>
            <a:ext cx="4101998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536192"/>
            <a:ext cx="50292" cy="658368"/>
          </a:xfrm>
          <a:prstGeom prst="rect">
            <a:avLst/>
          </a:prstGeom>
          <a:solidFill>
            <a:srgbClr val="F4B3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749808" y="1536192"/>
            <a:ext cx="6404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CIUDAD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1773936"/>
            <a:ext cx="6404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🇨🇷 San José, Costa Rica · 32 años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2340864"/>
            <a:ext cx="50292" cy="658368"/>
          </a:xfrm>
          <a:prstGeom prst="rect">
            <a:avLst/>
          </a:prstGeom>
          <a:solidFill>
            <a:srgbClr val="F4B3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749808" y="2340864"/>
            <a:ext cx="6404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ENCANTA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578608"/>
            <a:ext cx="6404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dibujar y viajar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3145536"/>
            <a:ext cx="6633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  audio/lucia-historia.mp3  ·  juanidives.github.io/espanhol/aulas/aula-2026-09-12/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35112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78408" y="3511296"/>
            <a:ext cx="6175858" cy="38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le gustaba hacer desde niña?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402412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78408" y="4024122"/>
            <a:ext cx="6175858" cy="38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compró en el mercado de San Pedro?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45369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78408" y="4536948"/>
            <a:ext cx="6175858" cy="38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volvió a Cusco este año?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EL TEXTO MARCADO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CONTÓ LUCÍA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36192"/>
            <a:ext cx="5298948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¡Hola! Me llamo Lucía Paredes, tengo treinta y dos años y soy de San José, Costa Rica.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04390"/>
            <a:ext cx="5298948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niña me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mucho dibujar. Siempre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cuaderno conmigo y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las montañas, las casas, la gente… todo lo que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veía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72588"/>
            <a:ext cx="5298948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me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encantaba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viajar y conocer otras culturas. El año pasado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decidí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hacer mi primer viaje sola y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elegí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Perú.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240786"/>
            <a:ext cx="5298948" cy="1123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llegué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Cusco,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hacía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frío,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había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mucha gente en las calles y los turistas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caminaban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todas partes. Me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quedé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un albergue pequeño cerca del centro. En la recepción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muchacho muy simpático que se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Nicolás. Cuando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llegué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preguntó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«¿Cómo te llamas?, ¿de dónde eres?, ¿cuántas noches te quedas?». ¡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todo!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428109"/>
            <a:ext cx="5298948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día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fui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mercado de San Pedro. Mientras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los puestos,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cuaderno chiquito de color café y lo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compré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996307"/>
            <a:ext cx="5298948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ese momento lo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conmigo a todas partes. Por las mañanas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Cusco y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lugares para dibujar. Un día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subí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la montaña y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dibujé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valle.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Hacía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frío y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había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mucha niebla, pero el paisaje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increíble.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23076" y="1536192"/>
            <a:ext cx="5298948" cy="710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último día, mi bus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salía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muy temprano. Mientras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mochila y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hablaba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otros viajeros,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cerré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mochila, me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despedí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Nicolás y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salí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corriendo.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23076" y="2310765"/>
            <a:ext cx="5298948" cy="297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Unas horas después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busqué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 cuaderno… No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23076" y="2672588"/>
            <a:ext cx="5298948" cy="297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«¡Diay! ¡Lo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dejé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el albergue!»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23076" y="3034411"/>
            <a:ext cx="5298948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Pasaron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varios meses y este año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volví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Cusco.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Elegí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mismo albergue porque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quería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recuperar mi cuaderno.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23076" y="3602609"/>
            <a:ext cx="5298948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Nicolás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 recepción con su gran sonrisa.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Miré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debajo del mostrador y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reconocí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caja de los olvidados.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23076" y="4170807"/>
            <a:ext cx="5298948" cy="297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acerqué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miré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dentro y… ¡ahí </a:t>
            </a:r>
            <a:r>
              <a:rPr lang="en-US" sz="13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estaba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 cuaderno!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23076" y="4532630"/>
            <a:ext cx="5298948" cy="297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agarré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le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dije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«¡Nicolás! ¡Este cuaderno es mío!»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23076" y="4894453"/>
            <a:ext cx="5298948" cy="297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 me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miró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sorprendido y </a:t>
            </a:r>
            <a:r>
              <a:rPr lang="en-US" sz="13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respondió</a:t>
            </a:r>
            <a:r>
              <a:rPr lang="en-US" sz="13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«¡¿Es tuyo?! ¡Qué bacán!»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6304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6D4F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66928" y="1463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Parte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011680"/>
            <a:ext cx="574865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PRETÉRITO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PERFECTO</a:t>
            </a:r>
            <a:endParaRPr lang="en-US" sz="4600" dirty="0"/>
          </a:p>
          <a:p>
            <a:pPr marL="0" indent="0">
              <a:buNone/>
            </a:pPr>
            <a:r>
              <a:rPr lang="en-US" sz="4600" b="1" i="1" dirty="0">
                <a:solidFill>
                  <a:srgbClr val="B8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14800"/>
            <a:ext cx="5527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pasó, paso a paso.</a:t>
            </a:r>
            <a:endParaRPr lang="en-US" sz="1800" dirty="0"/>
          </a:p>
        </p:txBody>
      </p:sp>
      <p:pic>
        <p:nvPicPr>
          <p:cNvPr id="6" name="Image 0" descr="/root/pptx/img/lucia-montana-vall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30184" y="1143000"/>
            <a:ext cx="32918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TEORÍA · PRETÉRITO PERFECTO SIMPLE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SE USA?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0292" cy="403098"/>
          </a:xfrm>
          <a:prstGeom prst="rect">
            <a:avLst/>
          </a:prstGeom>
          <a:solidFill>
            <a:srgbClr val="6D4F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49808" y="1536192"/>
            <a:ext cx="10826496" cy="40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 terminadas en un momento concreto del pasado.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año pasado </a:t>
            </a:r>
            <a:r>
              <a:rPr lang="en-US" sz="15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decidí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hacer mi primer viaje sola.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85594"/>
            <a:ext cx="50292" cy="403098"/>
          </a:xfrm>
          <a:prstGeom prst="rect">
            <a:avLst/>
          </a:prstGeom>
          <a:solidFill>
            <a:srgbClr val="6D4F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749808" y="2085594"/>
            <a:ext cx="10826496" cy="40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secuencia de acciones: lo que pasó, paso a paso.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Cerré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mochila, </a:t>
            </a:r>
            <a:r>
              <a:rPr lang="en-US" sz="15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despedí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Nicolás y </a:t>
            </a:r>
            <a:r>
              <a:rPr lang="en-US" sz="15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salí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corriendo.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634996"/>
            <a:ext cx="50292" cy="403098"/>
          </a:xfrm>
          <a:prstGeom prst="rect">
            <a:avLst/>
          </a:prstGeom>
          <a:solidFill>
            <a:srgbClr val="6D4F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749808" y="2634996"/>
            <a:ext cx="10826496" cy="40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 con principio y fin claros.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Pasaron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varios meses.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184398"/>
            <a:ext cx="50292" cy="403098"/>
          </a:xfrm>
          <a:prstGeom prst="rect">
            <a:avLst/>
          </a:prstGeom>
          <a:solidFill>
            <a:srgbClr val="6D4F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49808" y="3184398"/>
            <a:ext cx="10826496" cy="40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Marcadores: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733800"/>
            <a:ext cx="731520" cy="310896"/>
          </a:xfrm>
          <a:prstGeom prst="roundRect">
            <a:avLst>
              <a:gd name="adj" fmla="val 47059"/>
            </a:avLst>
          </a:prstGeom>
          <a:solidFill>
            <a:srgbClr val="B8A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66928" y="37338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26464" y="3733800"/>
            <a:ext cx="837590" cy="310896"/>
          </a:xfrm>
          <a:prstGeom prst="roundRect">
            <a:avLst>
              <a:gd name="adj" fmla="val 47059"/>
            </a:avLst>
          </a:prstGeom>
          <a:solidFill>
            <a:srgbClr val="B8A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1426464" y="3733800"/>
            <a:ext cx="8375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anoche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92070" y="3733800"/>
            <a:ext cx="1715414" cy="310896"/>
          </a:xfrm>
          <a:prstGeom prst="roundRect">
            <a:avLst>
              <a:gd name="adj" fmla="val 47059"/>
            </a:avLst>
          </a:prstGeom>
          <a:solidFill>
            <a:srgbClr val="B8A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2392070" y="3733800"/>
            <a:ext cx="17154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sábado pasado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35501" y="3733800"/>
            <a:ext cx="1715414" cy="310896"/>
          </a:xfrm>
          <a:prstGeom prst="roundRect">
            <a:avLst>
              <a:gd name="adj" fmla="val 47059"/>
            </a:avLst>
          </a:prstGeom>
          <a:solidFill>
            <a:srgbClr val="B8A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4235501" y="3733800"/>
            <a:ext cx="17154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semana pasada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78931" y="3733800"/>
            <a:ext cx="1452067" cy="310896"/>
          </a:xfrm>
          <a:prstGeom prst="roundRect">
            <a:avLst>
              <a:gd name="adj" fmla="val 47059"/>
            </a:avLst>
          </a:prstGeom>
          <a:solidFill>
            <a:srgbClr val="B8A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078931" y="3733800"/>
            <a:ext cx="14520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año pasado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59014" y="3733800"/>
            <a:ext cx="925373" cy="310896"/>
          </a:xfrm>
          <a:prstGeom prst="roundRect">
            <a:avLst>
              <a:gd name="adj" fmla="val 47059"/>
            </a:avLst>
          </a:prstGeom>
          <a:solidFill>
            <a:srgbClr val="B8A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7659014" y="3733800"/>
            <a:ext cx="9253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2020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712403" y="3733800"/>
            <a:ext cx="1452067" cy="310896"/>
          </a:xfrm>
          <a:prstGeom prst="roundRect">
            <a:avLst>
              <a:gd name="adj" fmla="val 47059"/>
            </a:avLst>
          </a:prstGeom>
          <a:solidFill>
            <a:srgbClr val="B8A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8712403" y="3733800"/>
            <a:ext cx="14520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 dos años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292486" y="3733800"/>
            <a:ext cx="837590" cy="310896"/>
          </a:xfrm>
          <a:prstGeom prst="roundRect">
            <a:avLst>
              <a:gd name="adj" fmla="val 47059"/>
            </a:avLst>
          </a:prstGeom>
          <a:solidFill>
            <a:srgbClr val="B8A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10292486" y="3733800"/>
            <a:ext cx="8375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día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4154424"/>
            <a:ext cx="1452067" cy="310896"/>
          </a:xfrm>
          <a:prstGeom prst="roundRect">
            <a:avLst>
              <a:gd name="adj" fmla="val 47059"/>
            </a:avLst>
          </a:prstGeom>
          <a:solidFill>
            <a:srgbClr val="B8A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566928" y="4154424"/>
            <a:ext cx="14520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día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147011" y="4154424"/>
            <a:ext cx="1452067" cy="310896"/>
          </a:xfrm>
          <a:prstGeom prst="roundRect">
            <a:avLst>
              <a:gd name="adj" fmla="val 47059"/>
            </a:avLst>
          </a:prstGeom>
          <a:solidFill>
            <a:srgbClr val="B8A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2147011" y="4154424"/>
            <a:ext cx="14520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último día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PRETÉRITO PERFECTO SIMPLE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VERBOS EN </a:t>
            </a:r>
            <a:r>
              <a:rPr lang="en-US" sz="3000" b="1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-AR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55096" cy="2374392"/>
        </p:xfrm>
        <a:graphic>
          <a:graphicData uri="http://schemas.openxmlformats.org/drawingml/2006/table">
            <a:tbl>
              <a:tblPr/>
              <a:tblGrid>
                <a:gridCol w="5527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7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 / ella / usted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ellos / ellas / ustedes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931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cant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(igual que tú)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261104"/>
            <a:ext cx="1105509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</a:t>
            </a:r>
            <a:r>
              <a:rPr lang="en-US" sz="14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</a:t>
            </a: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cuaderno</a:t>
            </a:r>
            <a:r>
              <a:rPr lang="en-US" sz="1400" b="1" dirty="0">
                <a:solidFill>
                  <a:srgbClr val="B8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</a:t>
            </a:r>
            <a:r>
              <a:rPr lang="en-US" sz="14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</a:t>
            </a: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valle</a:t>
            </a:r>
            <a:r>
              <a:rPr lang="en-US" sz="1400" b="1" dirty="0">
                <a:solidFill>
                  <a:srgbClr val="B8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me pregunt</a:t>
            </a:r>
            <a:r>
              <a:rPr lang="en-US" sz="14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</a:t>
            </a: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todo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PRETÉRITO PERFECTO SIMPLE · IRREGULARES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IRREGULARES EN </a:t>
            </a:r>
            <a:r>
              <a:rPr lang="en-US" sz="3000" b="1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-AR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55096" cy="2374392"/>
        </p:xfrm>
        <a:graphic>
          <a:graphicData uri="http://schemas.openxmlformats.org/drawingml/2006/table">
            <a:tbl>
              <a:tblPr/>
              <a:tblGrid>
                <a:gridCol w="368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 / ella / usted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ellos / ellas / ustedes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931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estuv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vos d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(igual que tú)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" y="4261104"/>
            <a:ext cx="50292" cy="476250"/>
          </a:xfrm>
          <a:prstGeom prst="rect">
            <a:avLst/>
          </a:prstGeom>
          <a:solidFill>
            <a:srgbClr val="6D4F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749808" y="4261104"/>
            <a:ext cx="108264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cambia la ortografía, y solo en </a:t>
            </a: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lleg</a:t>
            </a:r>
            <a:r>
              <a:rPr lang="en-US" sz="15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ué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bus</a:t>
            </a:r>
            <a:r>
              <a:rPr lang="en-US" sz="15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empe</a:t>
            </a:r>
            <a:r>
              <a:rPr lang="en-US" sz="15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jug</a:t>
            </a:r>
            <a:r>
              <a:rPr lang="en-US" sz="15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ué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PRETÉRITO PERFECTO SIMPLE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VERBOS EN </a:t>
            </a:r>
            <a:r>
              <a:rPr lang="en-US" sz="3000" b="1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-ER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55096" cy="2374392"/>
        </p:xfrm>
        <a:graphic>
          <a:graphicData uri="http://schemas.openxmlformats.org/drawingml/2006/table">
            <a:tbl>
              <a:tblPr/>
              <a:tblGrid>
                <a:gridCol w="5527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7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 / ella / usted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ellos / ellas / ustedes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931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com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(igual que tú)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261104"/>
            <a:ext cx="1105509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</a:t>
            </a:r>
            <a:r>
              <a:rPr lang="en-US" sz="14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</a:t>
            </a: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Cusco</a:t>
            </a:r>
            <a:r>
              <a:rPr lang="en-US" sz="1400" b="1" dirty="0">
                <a:solidFill>
                  <a:srgbClr val="B8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me respond</a:t>
            </a:r>
            <a:r>
              <a:rPr lang="en-US" sz="14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ió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PRETÉRITO PERFECTO SIMPLE · IRREGULARES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IRREGULARES EN </a:t>
            </a:r>
            <a:r>
              <a:rPr lang="en-US" sz="3000" b="1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-ER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55095" cy="2374392"/>
        </p:xfrm>
        <a:graphic>
          <a:graphicData uri="http://schemas.openxmlformats.org/drawingml/2006/table">
            <a:tbl>
              <a:tblPr/>
              <a:tblGrid>
                <a:gridCol w="2211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1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1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HACER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hic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hic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 / ella / usted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hiz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hic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hic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ellos / ellas / ustedes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hic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931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tuv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vos hic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vos fu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vos v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(igual que tú)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" y="4261104"/>
            <a:ext cx="50292" cy="476250"/>
          </a:xfrm>
          <a:prstGeom prst="rect">
            <a:avLst/>
          </a:prstGeom>
          <a:solidFill>
            <a:srgbClr val="6D4F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749808" y="4261104"/>
            <a:ext cx="108264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lleva tilde: </a:t>
            </a:r>
            <a:r>
              <a:rPr lang="en-US" sz="15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vi, vio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PRETÉRITO PERFECTO SIMPLE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VERBOS EN </a:t>
            </a:r>
            <a:r>
              <a:rPr lang="en-US" sz="3000" b="1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-IR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55096" cy="2374392"/>
        </p:xfrm>
        <a:graphic>
          <a:graphicData uri="http://schemas.openxmlformats.org/drawingml/2006/table">
            <a:tbl>
              <a:tblPr/>
              <a:tblGrid>
                <a:gridCol w="5527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7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 / ella / usted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ellos / ellas / ustedes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931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viv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(igual que tú)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261104"/>
            <a:ext cx="1105509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</a:t>
            </a:r>
            <a:r>
              <a:rPr lang="en-US" sz="14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</a:t>
            </a: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corriendo</a:t>
            </a:r>
            <a:r>
              <a:rPr lang="en-US" sz="1400" b="1" dirty="0">
                <a:solidFill>
                  <a:srgbClr val="B8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</a:t>
            </a:r>
            <a:r>
              <a:rPr lang="en-US" sz="14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</a:t>
            </a: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la montaña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PRETÉRITO PERFECTO SIMPLE · IRREGULARES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IRREGULARES EN </a:t>
            </a:r>
            <a:r>
              <a:rPr lang="en-US" sz="3000" b="1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-IR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55095" cy="2374392"/>
        </p:xfrm>
        <a:graphic>
          <a:graphicData uri="http://schemas.openxmlformats.org/drawingml/2006/table">
            <a:tbl>
              <a:tblPr/>
              <a:tblGrid>
                <a:gridCol w="2211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1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1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DORMIR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dij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vin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dij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vin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 / ella / usted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dij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vin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dij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vin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dij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vin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ellos / ellas / ustedes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dij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vin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931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fu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vos dij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vos vin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vos dorm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(igual que tú)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" y="4261104"/>
            <a:ext cx="50292" cy="476250"/>
          </a:xfrm>
          <a:prstGeom prst="rect">
            <a:avLst/>
          </a:prstGeom>
          <a:solidFill>
            <a:srgbClr val="6D4F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749808" y="4261104"/>
            <a:ext cx="108264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tienen las mismas formas. El contexto dice cuál es: </a:t>
            </a:r>
            <a:r>
              <a:rPr lang="en-US" sz="15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fui a Perú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5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fui feliz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CUADRO COMPARATIVO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PRETÉRITO PERFECTO </a:t>
            </a:r>
            <a:r>
              <a:rPr lang="en-US" sz="3000" b="1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55096" cy="2374392"/>
        </p:xfrm>
        <a:graphic>
          <a:graphicData uri="http://schemas.openxmlformats.org/drawingml/2006/table">
            <a:tbl>
              <a:tblPr/>
              <a:tblGrid>
                <a:gridCol w="2763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3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3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3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 / ella / usted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isteis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ellos / ellas / ustedes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6D4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ieron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931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cant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com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viv</a:t>
            </a:r>
            <a:r>
              <a:rPr lang="en-US" sz="1200" b="1" i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(igual que tú)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261104"/>
            <a:ext cx="11055096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-ER</a:t>
            </a:r>
            <a:r>
              <a:rPr lang="en-US" sz="2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20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-IR</a:t>
            </a:r>
            <a:r>
              <a:rPr lang="en-US" sz="2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tienen exactamente las mismas desinencias.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6304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C25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66928" y="1463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Parte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011680"/>
            <a:ext cx="574865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PRETÉRITO</a:t>
            </a:r>
            <a:endParaRPr lang="en-US" sz="4600" dirty="0"/>
          </a:p>
          <a:p>
            <a:pPr marL="0" indent="0">
              <a:buNone/>
            </a:pPr>
            <a:r>
              <a:rPr lang="en-US" sz="4600" b="1" i="1" dirty="0">
                <a:solidFill>
                  <a:srgbClr val="F4B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IMPERFECTO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14800"/>
            <a:ext cx="5527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B3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era la escena.</a:t>
            </a:r>
            <a:endParaRPr lang="en-US" sz="1800" dirty="0"/>
          </a:p>
        </p:txBody>
      </p:sp>
      <p:pic>
        <p:nvPicPr>
          <p:cNvPr id="6" name="Image 0" descr="/root/pptx/img/lucia-nina-dibujand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30184" y="1143000"/>
            <a:ext cx="32918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TEORÍA · PRETÉRITO IMPERFECTO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SE USA?</a:t>
            </a:r>
            <a:endParaRPr lang="en-US" sz="3000" dirty="0"/>
          </a:p>
        </p:txBody>
      </p:sp>
      <p:pic>
        <p:nvPicPr>
          <p:cNvPr id="4" name="Image 0" descr="/root/pptx/img/lucia-llegada-cusc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20026" y="1371600"/>
            <a:ext cx="4101998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536192"/>
            <a:ext cx="50292" cy="650748"/>
          </a:xfrm>
          <a:prstGeom prst="rect">
            <a:avLst/>
          </a:prstGeom>
          <a:solidFill>
            <a:srgbClr val="C25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749808" y="1536192"/>
            <a:ext cx="6404458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Describir en el pasado: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personas, lugares, clima, hora, edad.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Hacía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frío y </a:t>
            </a:r>
            <a:r>
              <a:rPr lang="en-US" sz="15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había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mucha niebla. El paisaje </a:t>
            </a:r>
            <a:r>
              <a:rPr lang="en-US" sz="15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increíble.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2333244"/>
            <a:ext cx="50292" cy="650748"/>
          </a:xfrm>
          <a:prstGeom prst="rect">
            <a:avLst/>
          </a:prstGeom>
          <a:solidFill>
            <a:srgbClr val="C25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749808" y="2333244"/>
            <a:ext cx="6404458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Hábitos y costumbres del pasado.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</a:t>
            </a:r>
            <a:r>
              <a:rPr lang="en-US" sz="15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llevaba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cuaderno conmigo y </a:t>
            </a:r>
            <a:r>
              <a:rPr lang="en-US" sz="15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dibujaba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las montañas.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3130296"/>
            <a:ext cx="50292" cy="650748"/>
          </a:xfrm>
          <a:prstGeom prst="rect">
            <a:avLst/>
          </a:prstGeom>
          <a:solidFill>
            <a:srgbClr val="C25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749808" y="3130296"/>
            <a:ext cx="6404458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acción en curso cuando pasa otra cosa.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Mientras </a:t>
            </a:r>
            <a:r>
              <a:rPr lang="en-US" sz="15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caminaba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los puestos, vi un cuaderno.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3927348"/>
            <a:ext cx="50292" cy="403098"/>
          </a:xfrm>
          <a:prstGeom prst="rect">
            <a:avLst/>
          </a:prstGeom>
          <a:solidFill>
            <a:srgbClr val="C25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749808" y="3927348"/>
            <a:ext cx="6404458" cy="40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Marcadores: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66928" y="4476750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F4B3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566928" y="447675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444752" y="4476750"/>
            <a:ext cx="925373" cy="310896"/>
          </a:xfrm>
          <a:prstGeom prst="roundRect">
            <a:avLst>
              <a:gd name="adj" fmla="val 47059"/>
            </a:avLst>
          </a:prstGeom>
          <a:solidFill>
            <a:srgbClr val="F4B3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1444752" y="4476750"/>
            <a:ext cx="9253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498141" y="4476750"/>
            <a:ext cx="1539850" cy="310896"/>
          </a:xfrm>
          <a:prstGeom prst="roundRect">
            <a:avLst>
              <a:gd name="adj" fmla="val 47059"/>
            </a:avLst>
          </a:prstGeom>
          <a:solidFill>
            <a:srgbClr val="F4B3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2498141" y="4476750"/>
            <a:ext cx="1539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días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166006" y="4476750"/>
            <a:ext cx="1276502" cy="310896"/>
          </a:xfrm>
          <a:prstGeom prst="roundRect">
            <a:avLst>
              <a:gd name="adj" fmla="val 47059"/>
            </a:avLst>
          </a:prstGeom>
          <a:solidFill>
            <a:srgbClr val="F4B3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 txBox="1"/>
          <p:nvPr/>
        </p:nvSpPr>
        <p:spPr>
          <a:xfrm>
            <a:off x="4166006" y="4476750"/>
            <a:ext cx="12765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normalmente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570525" y="4476750"/>
            <a:ext cx="1013155" cy="310896"/>
          </a:xfrm>
          <a:prstGeom prst="roundRect">
            <a:avLst>
              <a:gd name="adj" fmla="val 47059"/>
            </a:avLst>
          </a:prstGeom>
          <a:solidFill>
            <a:srgbClr val="F4B3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 txBox="1"/>
          <p:nvPr/>
        </p:nvSpPr>
        <p:spPr>
          <a:xfrm>
            <a:off x="5570525" y="4476750"/>
            <a:ext cx="10131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menudo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4897374"/>
            <a:ext cx="1013155" cy="310896"/>
          </a:xfrm>
          <a:prstGeom prst="roundRect">
            <a:avLst>
              <a:gd name="adj" fmla="val 47059"/>
            </a:avLst>
          </a:prstGeom>
          <a:solidFill>
            <a:srgbClr val="F4B3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 txBox="1"/>
          <p:nvPr/>
        </p:nvSpPr>
        <p:spPr>
          <a:xfrm>
            <a:off x="566928" y="4897374"/>
            <a:ext cx="10131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mientras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708099" y="4897374"/>
            <a:ext cx="1803197" cy="310896"/>
          </a:xfrm>
          <a:prstGeom prst="roundRect">
            <a:avLst>
              <a:gd name="adj" fmla="val 47059"/>
            </a:avLst>
          </a:prstGeom>
          <a:solidFill>
            <a:srgbClr val="F4B3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 txBox="1"/>
          <p:nvPr/>
        </p:nvSpPr>
        <p:spPr>
          <a:xfrm>
            <a:off x="1708099" y="4897374"/>
            <a:ext cx="1803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era niño/a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639312" y="4897374"/>
            <a:ext cx="1364285" cy="310896"/>
          </a:xfrm>
          <a:prstGeom prst="roundRect">
            <a:avLst>
              <a:gd name="adj" fmla="val 47059"/>
            </a:avLst>
          </a:prstGeom>
          <a:solidFill>
            <a:srgbClr val="F4B3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 txBox="1"/>
          <p:nvPr/>
        </p:nvSpPr>
        <p:spPr>
          <a:xfrm>
            <a:off x="3639312" y="4897374"/>
            <a:ext cx="13642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niño/a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PRETÉRITO IMPERFECTO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VERBOS EN </a:t>
            </a:r>
            <a:r>
              <a:rPr lang="en-US" sz="30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-AR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55096" cy="2374392"/>
        </p:xfrm>
        <a:graphic>
          <a:graphicData uri="http://schemas.openxmlformats.org/drawingml/2006/table">
            <a:tbl>
              <a:tblPr/>
              <a:tblGrid>
                <a:gridCol w="5527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7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 / ella / usted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ábamos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ellos / ellas / ustedes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931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cant</a:t>
            </a:r>
            <a:r>
              <a:rPr lang="en-US" sz="12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(igual que tú)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261104"/>
            <a:ext cx="1105509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</a:t>
            </a:r>
            <a:r>
              <a:rPr lang="en-US" sz="14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</a:t>
            </a: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las montañas</a:t>
            </a:r>
            <a:r>
              <a:rPr lang="en-US" sz="1400" b="1" dirty="0">
                <a:solidFill>
                  <a:srgbClr val="B8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turistas camin</a:t>
            </a:r>
            <a:r>
              <a:rPr lang="en-US" sz="14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</a:t>
            </a: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todas partes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PRETÉRITO IMPERFECTO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VERBOS EN </a:t>
            </a:r>
            <a:r>
              <a:rPr lang="en-US" sz="30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-ER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55096" cy="2374392"/>
        </p:xfrm>
        <a:graphic>
          <a:graphicData uri="http://schemas.openxmlformats.org/drawingml/2006/table">
            <a:tbl>
              <a:tblPr/>
              <a:tblGrid>
                <a:gridCol w="5527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7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 / ella / usted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ellos / ellas / ustedes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931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com</a:t>
            </a:r>
            <a:r>
              <a:rPr lang="en-US" sz="12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ías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(igual que tú)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261104"/>
            <a:ext cx="1105509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</a:t>
            </a:r>
            <a:r>
              <a:rPr lang="en-US" sz="14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ía</a:t>
            </a: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cuaderno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PRETÉRITO IMPERFECTO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MISMOS VERBOS </a:t>
            </a:r>
            <a:r>
              <a:rPr lang="en-US" sz="30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0292" cy="476250"/>
          </a:xfrm>
          <a:prstGeom prst="rect">
            <a:avLst/>
          </a:prstGeom>
          <a:solidFill>
            <a:srgbClr val="C25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49808" y="1536192"/>
            <a:ext cx="108264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Regulares: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ten</a:t>
            </a:r>
            <a:r>
              <a:rPr lang="en-US" sz="15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ía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hac</a:t>
            </a:r>
            <a:r>
              <a:rPr lang="en-US" sz="15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ía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58746"/>
          <a:ext cx="11055096" cy="2374392"/>
        </p:xfrm>
        <a:graphic>
          <a:graphicData uri="http://schemas.openxmlformats.org/drawingml/2006/table">
            <a:tbl>
              <a:tblPr/>
              <a:tblGrid>
                <a:gridCol w="368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 / ella / usted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ér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ellos / ellas / ustedes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455447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er</a:t>
            </a:r>
            <a:r>
              <a:rPr lang="en-US" sz="12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vos ve</a:t>
            </a:r>
            <a:r>
              <a:rPr lang="en-US" sz="12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ías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(igual que tú)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PRETÉRITO IMPERFECTO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VERBOS EN </a:t>
            </a:r>
            <a:r>
              <a:rPr lang="en-US" sz="30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-IR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55096" cy="2374392"/>
        </p:xfrm>
        <a:graphic>
          <a:graphicData uri="http://schemas.openxmlformats.org/drawingml/2006/table">
            <a:tbl>
              <a:tblPr/>
              <a:tblGrid>
                <a:gridCol w="5527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7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 / ella / usted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ellos / ellas / ustedes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931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viv</a:t>
            </a:r>
            <a:r>
              <a:rPr lang="en-US" sz="12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ías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(igual que tú)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261104"/>
            <a:ext cx="1105509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bus sal</a:t>
            </a:r>
            <a:r>
              <a:rPr lang="en-US" sz="14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ía</a:t>
            </a:r>
            <a:r>
              <a:rPr lang="en-US" sz="14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muy temprano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PRETÉRITO IMPERFECTO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MISMOS VERBOS </a:t>
            </a:r>
            <a:r>
              <a:rPr lang="en-US" sz="30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0292" cy="476250"/>
          </a:xfrm>
          <a:prstGeom prst="rect">
            <a:avLst/>
          </a:prstGeom>
          <a:solidFill>
            <a:srgbClr val="C25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49808" y="1536192"/>
            <a:ext cx="108264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Regulares: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</a:t>
            </a:r>
            <a:r>
              <a:rPr lang="en-US" sz="15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ía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ven</a:t>
            </a:r>
            <a:r>
              <a:rPr lang="en-US" sz="15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ía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dorm</a:t>
            </a:r>
            <a:r>
              <a:rPr lang="en-US" sz="15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ía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58746"/>
          <a:ext cx="11055096" cy="2374392"/>
        </p:xfrm>
        <a:graphic>
          <a:graphicData uri="http://schemas.openxmlformats.org/drawingml/2006/table">
            <a:tbl>
              <a:tblPr/>
              <a:tblGrid>
                <a:gridCol w="5527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7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 / ella / usted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ellos / ellas / ustedes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455447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i</a:t>
            </a:r>
            <a:r>
              <a:rPr lang="en-US" sz="12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(igual que tú)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CUADRO COMPARATIVO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PRETÉRITO </a:t>
            </a:r>
            <a:r>
              <a:rPr lang="en-US" sz="30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IMPERFECTO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55096" cy="2374392"/>
        </p:xfrm>
        <a:graphic>
          <a:graphicData uri="http://schemas.openxmlformats.org/drawingml/2006/table">
            <a:tbl>
              <a:tblPr/>
              <a:tblGrid>
                <a:gridCol w="2763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3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3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3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 / ella / usted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ábamos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íamos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vosotros/as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A2E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ellos / ellas / ustedes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15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</a:t>
                      </a:r>
                      <a:r>
                        <a:rPr lang="en-US" sz="1600" b="1" dirty="0">
                          <a:solidFill>
                            <a:srgbClr val="C25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931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cant</a:t>
            </a:r>
            <a:r>
              <a:rPr lang="en-US" sz="12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com</a:t>
            </a:r>
            <a:r>
              <a:rPr lang="en-US" sz="12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ías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viv</a:t>
            </a:r>
            <a:r>
              <a:rPr lang="en-US" sz="12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ías</a:t>
            </a:r>
            <a:r>
              <a:rPr lang="en-US" sz="12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(igual que tú)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261104"/>
            <a:ext cx="11055096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-ER</a:t>
            </a:r>
            <a:r>
              <a:rPr lang="en-US" sz="2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20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-IR</a:t>
            </a:r>
            <a:r>
              <a:rPr lang="en-US" sz="2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 idénticos: </a:t>
            </a:r>
            <a:r>
              <a:rPr lang="en-US" sz="20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-ía</a:t>
            </a:r>
            <a:r>
              <a:rPr lang="en-US" sz="2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RESUMEN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TRES IRREGULARES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0292" cy="476250"/>
          </a:xfrm>
          <a:prstGeom prst="rect">
            <a:avLst/>
          </a:prstGeom>
          <a:solidFill>
            <a:srgbClr val="C25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49808" y="1536192"/>
            <a:ext cx="108264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Pretérito Imperfecto hay solo tres irregulares en todo el español: </a:t>
            </a:r>
            <a:r>
              <a:rPr lang="en-US" sz="15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SER, IR, VER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58746"/>
            <a:ext cx="50292" cy="723900"/>
          </a:xfrm>
          <a:prstGeom prst="rect">
            <a:avLst/>
          </a:prstGeom>
          <a:solidFill>
            <a:srgbClr val="6D4F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749808" y="2158746"/>
            <a:ext cx="1082649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verbos que en el Pretérito Perfecto Simple te complican (</a:t>
            </a:r>
            <a:r>
              <a:rPr lang="en-US" sz="1500" i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tener, hacer, decir, venir, estar</a:t>
            </a:r>
            <a:r>
              <a:rPr lang="en-US" sz="1500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en el Imperfecto son todos regulares.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LOS DOS TIEMPOS, JUNTOS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JUNTOS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3619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La escena · Pretérito Imperfecto        ⚡ La acción · Pretérito Perfecto Simple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20240"/>
            <a:ext cx="5085344" cy="366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Mientras caminaba por los puestos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762823" y="1920240"/>
            <a:ext cx="274320" cy="366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315578" y="1920240"/>
            <a:ext cx="5306446" cy="366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un cuaderno ⚡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378202"/>
            <a:ext cx="11055096" cy="0"/>
          </a:xfrm>
          <a:prstGeom prst="line">
            <a:avLst/>
          </a:prstGeom>
          <a:noFill/>
          <a:ln w="12700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66928" y="2487930"/>
            <a:ext cx="5085344" cy="366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Hacía frío y había mucha niebla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762823" y="2487930"/>
            <a:ext cx="274320" cy="366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15578" y="2487930"/>
            <a:ext cx="5306446" cy="366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subí a la montaña y dibujé el valle 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2945892"/>
            <a:ext cx="11055096" cy="0"/>
          </a:xfrm>
          <a:prstGeom prst="line">
            <a:avLst/>
          </a:prstGeom>
          <a:noFill/>
          <a:ln w="12700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66928" y="3055620"/>
            <a:ext cx="5085344" cy="366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Mi bus salía muy temprano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762823" y="3055620"/>
            <a:ext cx="274320" cy="366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15578" y="3055620"/>
            <a:ext cx="5306446" cy="366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cerré la mochila y salí corriendo ⚡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513582"/>
            <a:ext cx="11055096" cy="0"/>
          </a:xfrm>
          <a:prstGeom prst="line">
            <a:avLst/>
          </a:prstGeom>
          <a:noFill/>
          <a:ln w="12700">
            <a:solidFill>
              <a:srgbClr val="E3DCD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566928" y="3623310"/>
            <a:ext cx="11055096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2000" b="1" dirty="0">
                <a:solidFill>
                  <a:srgbClr val="C2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Imperfecto</a:t>
            </a:r>
            <a:r>
              <a:rPr lang="en-US" sz="2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describe la escena. El </a:t>
            </a:r>
            <a:r>
              <a:rPr lang="en-US" sz="2000" b="1" dirty="0">
                <a:solidFill>
                  <a:srgbClr val="6D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Perfecto Simple</a:t>
            </a:r>
            <a:r>
              <a:rPr lang="en-US" sz="2000" b="1" dirty="0">
                <a:solidFill>
                  <a:srgbClr val="1C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cuenta lo que pasó.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1623</Words>
  <Application>Microsoft Office PowerPoint</Application>
  <PresentationFormat>Widescreen</PresentationFormat>
  <Paragraphs>428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 cuaderno es mío · Aula 2026-09-12</dc:title>
  <dc:subject>Pretérito Perfecto Simple y Pretérito Imperfecto</dc:subject>
  <dc:creator>Juani</dc:creator>
  <cp:lastModifiedBy>Juan Antonio Morales</cp:lastModifiedBy>
  <cp:revision>2</cp:revision>
  <dcterms:created xsi:type="dcterms:W3CDTF">2026-10-10T12:49:48Z</dcterms:created>
  <dcterms:modified xsi:type="dcterms:W3CDTF">2026-10-10T12:57:37Z</dcterms:modified>
</cp:coreProperties>
</file>