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61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E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486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5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 L A   1.2   ·   E S P A Ñ O L   ·   A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1005840"/>
            <a:ext cx="121916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2E21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</a:t>
            </a:r>
            <a:r>
              <a:rPr lang="en-US" sz="8000" b="1" dirty="0">
                <a:solidFill>
                  <a:srgbClr val="E4007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COINCIDIMOS</a:t>
            </a:r>
            <a:r>
              <a:rPr lang="en-US" sz="8000" b="1" dirty="0">
                <a:solidFill>
                  <a:srgbClr val="2E21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05" y="242316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5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Gustos y opiniones · con Valentina Ríos, Ciudad de México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163928" y="31546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C0574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163928" y="3154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🎧 Escucha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75608" y="31546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E400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175608" y="3154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Habla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87288" y="31546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C0574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187288" y="3154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Vocabulario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98968" y="31546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E400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198968" y="3154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Gramática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44288" y="3886200"/>
            <a:ext cx="2103120" cy="23317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38100">
            <a:solidFill>
              <a:srgbClr val="C0574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168" y="4183380"/>
            <a:ext cx="1737360" cy="17373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267047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C05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Abre la clase en tu celular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Workspace/espanhol/a1-aula12/images/valentina-rio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548640"/>
            <a:ext cx="3840480" cy="4800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46320" y="45720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E21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VALENTINA RÍOS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846320" y="118872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5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Ilustradora de libros infantiles · 25 años · Ciudad de México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846320" y="169164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400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👋 Conoce a Valentina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846320" y="2103120"/>
            <a:ext cx="54864" cy="566928"/>
          </a:xfrm>
          <a:prstGeom prst="rect">
            <a:avLst/>
          </a:prstGeom>
          <a:solidFill>
            <a:srgbClr val="C0574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4901184" y="2103120"/>
            <a:ext cx="6711696" cy="566928"/>
          </a:xfrm>
          <a:prstGeom prst="rect">
            <a:avLst/>
          </a:prstGeom>
          <a:solidFill>
            <a:srgbClr val="FBF5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5074920" y="2139696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5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CIUDAD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74920" y="235000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🇲🇽 Ciudad de México (Colonia Roma)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846320" y="2779776"/>
            <a:ext cx="54864" cy="566928"/>
          </a:xfrm>
          <a:prstGeom prst="rect">
            <a:avLst/>
          </a:prstGeom>
          <a:solidFill>
            <a:srgbClr val="E400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901184" y="2779776"/>
            <a:ext cx="6711696" cy="566928"/>
          </a:xfrm>
          <a:prstGeom prst="rect">
            <a:avLst/>
          </a:prstGeom>
          <a:solidFill>
            <a:srgbClr val="FBF5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5074920" y="28163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5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74920" y="302666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Ilustradora de libros infantiles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846320" y="3456432"/>
            <a:ext cx="54864" cy="566928"/>
          </a:xfrm>
          <a:prstGeom prst="rect">
            <a:avLst/>
          </a:prstGeom>
          <a:solidFill>
            <a:srgbClr val="C0574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4901184" y="3456432"/>
            <a:ext cx="6711696" cy="566928"/>
          </a:xfrm>
          <a:prstGeom prst="rect">
            <a:avLst/>
          </a:prstGeom>
          <a:solidFill>
            <a:srgbClr val="FBF5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5074920" y="349300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5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MASCOTA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74920" y="370332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🐱 Frida, su gata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846320" y="4133088"/>
            <a:ext cx="54864" cy="566928"/>
          </a:xfrm>
          <a:prstGeom prst="rect">
            <a:avLst/>
          </a:prstGeom>
          <a:solidFill>
            <a:srgbClr val="E400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4901184" y="4133088"/>
            <a:ext cx="6711696" cy="566928"/>
          </a:xfrm>
          <a:prstGeom prst="rect">
            <a:avLst/>
          </a:prstGeom>
          <a:solidFill>
            <a:srgbClr val="FBF5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5074920" y="416966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5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RUTINA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074920" y="437997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Va al mercado del barrio los miércoles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846320" y="4901184"/>
            <a:ext cx="6766560" cy="914400"/>
          </a:xfrm>
          <a:prstGeom prst="roundRect">
            <a:avLst>
              <a:gd name="adj" fmla="val 8000"/>
            </a:avLst>
          </a:prstGeom>
          <a:solidFill>
            <a:srgbClr val="FDF0EC"/>
          </a:solidFill>
          <a:ln w="12700">
            <a:solidFill>
              <a:srgbClr val="C0574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5029200" y="4992624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"Odio despertarme temprano, pero </a:t>
            </a:r>
            <a:r>
              <a:rPr lang="en-US" sz="1300" b="1" dirty="0">
                <a:solidFill>
                  <a:srgbClr val="E400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 el silencio</a:t>
            </a:r>
            <a:r>
              <a:rPr lang="en-US" sz="1300" i="1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las seis de la mañana."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Workspace/espanhol/a1-aula12/images/valentina-bicicleta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8640" y="548640"/>
            <a:ext cx="3840480" cy="4800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46320" y="54864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00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🎧 Escucha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4846319" y="914400"/>
            <a:ext cx="717706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E21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ESCUCHA A </a:t>
            </a:r>
            <a:r>
              <a:rPr lang="en-US" sz="4000" b="1" dirty="0">
                <a:solidFill>
                  <a:srgbClr val="E4007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VALENTINA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4846320" y="1920240"/>
            <a:ext cx="6766560" cy="1005840"/>
          </a:xfrm>
          <a:prstGeom prst="roundRect">
            <a:avLst>
              <a:gd name="adj" fmla="val 7273"/>
            </a:avLst>
          </a:prstGeom>
          <a:solidFill>
            <a:srgbClr val="FBF5EA"/>
          </a:solidFill>
          <a:ln w="25400">
            <a:solidFill>
              <a:srgbClr val="C0574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5074920" y="205740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5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🎧 ESCUCHA EL AUDIO</a:t>
            </a:r>
            <a:endParaRPr lang="en-US" sz="1100" dirty="0"/>
          </a:p>
        </p:txBody>
      </p:sp>
      <p:pic>
        <p:nvPicPr>
          <p:cNvPr id="7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074920" y="2377440"/>
            <a:ext cx="54864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15000" y="237744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audio-valentina.mp3 (clic para reproducir)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846320" y="3200400"/>
            <a:ext cx="6766560" cy="914400"/>
          </a:xfrm>
          <a:prstGeom prst="roundRect">
            <a:avLst>
              <a:gd name="adj" fmla="val 10000"/>
            </a:avLst>
          </a:prstGeom>
          <a:solidFill>
            <a:srgbClr val="E400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/>
          <p:nvPr/>
        </p:nvSpPr>
        <p:spPr>
          <a:xfrm>
            <a:off x="5074920" y="320040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Anota dos cosas que entendiste.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400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Texto del audio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21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QUE </a:t>
            </a:r>
            <a:r>
              <a:rPr lang="en-US" sz="3000" b="1" dirty="0">
                <a:solidFill>
                  <a:srgbClr val="E4007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DIJO</a:t>
            </a:r>
            <a:r>
              <a:rPr lang="en-US" sz="3000" b="1" dirty="0">
                <a:solidFill>
                  <a:srgbClr val="2E21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VALENTINA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49289" y="1162455"/>
            <a:ext cx="10093421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600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Buenos días. Soy Valentina, y hoy les voy a contar un poco de mi </a:t>
            </a:r>
            <a:r>
              <a:rPr lang="en-US" sz="1600" dirty="0" err="1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vida</a:t>
            </a:r>
            <a:r>
              <a:rPr lang="en-US" sz="1600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miércoles son mi día favorito de la semana. Bueno… casi. Porque el despertador suena a las siete, y a mí levantarme temprano no me </a:t>
            </a:r>
            <a:r>
              <a:rPr lang="en-US" sz="1600" b="1" dirty="0">
                <a:solidFill>
                  <a:srgbClr val="E400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gusta</a:t>
            </a:r>
            <a:r>
              <a:rPr lang="en-US" sz="1600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nada. </a:t>
            </a:r>
            <a:r>
              <a:rPr lang="en-US" sz="1600" dirty="0" err="1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Nadita</a:t>
            </a:r>
            <a:r>
              <a:rPr lang="en-US" sz="1600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Pero mi gata Frida no entiende de eso. Se sienta en mi pecho, me mira, y espera. Entonces me </a:t>
            </a:r>
            <a:r>
              <a:rPr lang="en-US" sz="1600" dirty="0" err="1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levanto</a:t>
            </a:r>
            <a:r>
              <a:rPr lang="en-US" sz="1600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Preparo café. El café sí me </a:t>
            </a:r>
            <a:r>
              <a:rPr lang="en-US" sz="1600" b="1" dirty="0">
                <a:solidFill>
                  <a:srgbClr val="E400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encanta</a:t>
            </a:r>
            <a:r>
              <a:rPr lang="en-US" sz="1600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¿eh? Con eso ya soy otra persona.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en casa: dibujo libros para niños, soy ilustradora. Los miércoles dibujo poco, porque los miércoles voy al mercado.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49291" y="3370634"/>
            <a:ext cx="100934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600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el mercado, ay, el mercado me </a:t>
            </a:r>
            <a:r>
              <a:rPr lang="en-US" sz="1600" b="1" dirty="0">
                <a:solidFill>
                  <a:srgbClr val="E400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fascina</a:t>
            </a:r>
            <a:r>
              <a:rPr lang="en-US" sz="1600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Los colores, la gente que grita, las frutas que no conozco… Voy en bicicleta, siempre. El metro por la mañana me </a:t>
            </a:r>
            <a:r>
              <a:rPr lang="en-US" sz="1600" b="1" dirty="0">
                <a:solidFill>
                  <a:srgbClr val="E400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molesta</a:t>
            </a:r>
            <a:r>
              <a:rPr lang="en-US" sz="1600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muchísimo: mucha gente, mucho calor, no, gracias.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 tomate, cebolla, chile… poquito chile. Porque en México todo pica, pero a mí la comida muy picante no me </a:t>
            </a:r>
            <a:r>
              <a:rPr lang="en-US" sz="1600" b="1" dirty="0" err="1">
                <a:solidFill>
                  <a:srgbClr val="E400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gusta</a:t>
            </a:r>
            <a:r>
              <a:rPr lang="en-US" sz="1600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la tarde, si hay tiempo, voy a la alberca. Nadar me </a:t>
            </a:r>
            <a:r>
              <a:rPr lang="en-US" sz="1600" b="1" dirty="0">
                <a:solidFill>
                  <a:srgbClr val="E400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relaja</a:t>
            </a:r>
            <a:r>
              <a:rPr lang="en-US" sz="1600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 fútbol no, el fútbol de verdad no me </a:t>
            </a:r>
            <a:r>
              <a:rPr lang="en-US" sz="1600" b="1" dirty="0">
                <a:solidFill>
                  <a:srgbClr val="E400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interesa</a:t>
            </a:r>
            <a:r>
              <a:rPr lang="en-US" sz="1600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nada, y en mi familia todos me preguntan por </a:t>
            </a:r>
            <a:r>
              <a:rPr lang="en-US" sz="1600" dirty="0" err="1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</a:t>
            </a:r>
            <a:r>
              <a:rPr lang="en-US" sz="1600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en la noche, leo. Siempre leo. El año pasado ilustré un libro sobre una niña que tenía miedo del agua. En una página escribí, con letras muy grandes: «Nadie aprende a nadar mirando el </a:t>
            </a:r>
            <a:r>
              <a:rPr lang="en-US" sz="1600" dirty="0" err="1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</a:t>
            </a:r>
            <a:r>
              <a:rPr lang="en-US" sz="1600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».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ustedes, que están aprendiendo español… es lo mismo, ¿no? Nadie aprende a hablar escuchando. Hay que hablar. ¡Nos vemos, chicos!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00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Observa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77724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E21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</a:t>
            </a:r>
            <a:r>
              <a:rPr lang="en-US" sz="4600" b="1" dirty="0">
                <a:solidFill>
                  <a:srgbClr val="E4007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GUSTA</a:t>
            </a:r>
            <a:r>
              <a:rPr lang="en-US" sz="4600" b="1" dirty="0">
                <a:solidFill>
                  <a:srgbClr val="2E21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O </a:t>
            </a:r>
            <a:r>
              <a:rPr lang="en-US" sz="4600" b="1" dirty="0">
                <a:solidFill>
                  <a:srgbClr val="E4007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GUSTAN</a:t>
            </a:r>
            <a:r>
              <a:rPr lang="en-US" sz="4600" b="1" dirty="0">
                <a:solidFill>
                  <a:srgbClr val="2E21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0" y="16002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5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con gusta o gustan.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011680" y="228600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FBF5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194560" y="228600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5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0" y="22860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Valentina ____ el mercado de su barrio.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11680" y="3218688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FBF5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2194560" y="3218688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5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0" y="3218688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Valentina ____ los gatos.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011680" y="4151376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FBF5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2194560" y="4151376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5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43200" y="4151376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Valentina ____ la Ciudad de México.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011680" y="5084064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FBF5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2194560" y="5084064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5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43200" y="5084064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Valentina ____ los libros para niños.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Workspace/espanhol/a1-aula12/images/valentina-mercad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548640"/>
            <a:ext cx="3840480" cy="4800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46320" y="64008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00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Observa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4846320" y="1005840"/>
            <a:ext cx="6766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C057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FASCINAR</a:t>
            </a:r>
            <a:endParaRPr lang="en-US" sz="5600" dirty="0"/>
          </a:p>
        </p:txBody>
      </p:sp>
      <p:sp>
        <p:nvSpPr>
          <p:cNvPr id="5" name="Shape 2"/>
          <p:cNvSpPr/>
          <p:nvPr/>
        </p:nvSpPr>
        <p:spPr>
          <a:xfrm>
            <a:off x="4846320" y="2377440"/>
            <a:ext cx="6766560" cy="1554480"/>
          </a:xfrm>
          <a:prstGeom prst="roundRect">
            <a:avLst>
              <a:gd name="adj" fmla="val 5882"/>
            </a:avLst>
          </a:prstGeom>
          <a:solidFill>
            <a:srgbClr val="FBF5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5120640" y="2377440"/>
            <a:ext cx="6217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"El mercado me </a:t>
            </a:r>
            <a:r>
              <a:rPr lang="en-US" sz="2600" b="1" dirty="0">
                <a:solidFill>
                  <a:srgbClr val="E400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fascina</a:t>
            </a:r>
            <a:r>
              <a:rPr lang="en-US" sz="2600" b="1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."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846320" y="411480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5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😍 fascinar = gustar muchísimo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E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Workspace/espanhol/a1-aula12/images/valentina-metr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548640"/>
            <a:ext cx="3840480" cy="4800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46320" y="64008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00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Observa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4846320" y="1005840"/>
            <a:ext cx="6766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C057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MOLESTAR</a:t>
            </a:r>
            <a:endParaRPr lang="en-US" sz="5600" dirty="0"/>
          </a:p>
        </p:txBody>
      </p:sp>
      <p:sp>
        <p:nvSpPr>
          <p:cNvPr id="5" name="Shape 2"/>
          <p:cNvSpPr/>
          <p:nvPr/>
        </p:nvSpPr>
        <p:spPr>
          <a:xfrm>
            <a:off x="4846320" y="2377440"/>
            <a:ext cx="6766560" cy="1554480"/>
          </a:xfrm>
          <a:prstGeom prst="roundRect">
            <a:avLst>
              <a:gd name="adj" fmla="val 5882"/>
            </a:avLst>
          </a:prstGeom>
          <a:solidFill>
            <a:srgbClr val="FBF5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5120640" y="2377440"/>
            <a:ext cx="6217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"El metro por la mañana me </a:t>
            </a:r>
            <a:r>
              <a:rPr lang="en-US" sz="2600" b="1" dirty="0">
                <a:solidFill>
                  <a:srgbClr val="E400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molesta</a:t>
            </a:r>
            <a:r>
              <a:rPr lang="en-US" sz="2600" b="1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muchísimo."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846320" y="411480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5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😖 molestar = no gustar / fastidiar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E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008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E21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 CUATRO </a:t>
            </a:r>
            <a:r>
              <a:rPr lang="en-US" sz="4800" b="1" dirty="0">
                <a:solidFill>
                  <a:srgbClr val="E4007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REACCIONES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655168" y="1828800"/>
            <a:ext cx="5212080" cy="73152"/>
          </a:xfrm>
          <a:prstGeom prst="rect">
            <a:avLst/>
          </a:prstGeom>
          <a:solidFill>
            <a:srgbClr val="E400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55168" y="1901952"/>
            <a:ext cx="5212080" cy="1938528"/>
          </a:xfrm>
          <a:prstGeom prst="rect">
            <a:avLst/>
          </a:prstGeom>
          <a:solidFill>
            <a:srgbClr val="FBF5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29488" y="20574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57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MÍ TAMBIÉN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29488" y="27432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Me gusta el chocolate.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¡A mí también!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24448" y="1828800"/>
            <a:ext cx="5212080" cy="73152"/>
          </a:xfrm>
          <a:prstGeom prst="rect">
            <a:avLst/>
          </a:prstGeom>
          <a:solidFill>
            <a:srgbClr val="C0574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324448" y="1901952"/>
            <a:ext cx="5212080" cy="1938528"/>
          </a:xfrm>
          <a:prstGeom prst="rect">
            <a:avLst/>
          </a:prstGeom>
          <a:solidFill>
            <a:srgbClr val="FBF5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598768" y="20574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4007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MÍ TAMPOCO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98768" y="27432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 me gusta el metro.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¡A mí tampoco!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5168" y="4206240"/>
            <a:ext cx="5212080" cy="73152"/>
          </a:xfrm>
          <a:prstGeom prst="rect">
            <a:avLst/>
          </a:prstGeom>
          <a:solidFill>
            <a:srgbClr val="C0574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55168" y="4279392"/>
            <a:ext cx="5212080" cy="1938528"/>
          </a:xfrm>
          <a:prstGeom prst="rect">
            <a:avLst/>
          </a:prstGeom>
          <a:solidFill>
            <a:srgbClr val="FBF5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929488" y="44348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4007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MÍ SÍ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29488" y="51206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 me gusta cocinar.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Pues a mí sí.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24448" y="4206240"/>
            <a:ext cx="5212080" cy="73152"/>
          </a:xfrm>
          <a:prstGeom prst="rect">
            <a:avLst/>
          </a:prstGeom>
          <a:solidFill>
            <a:srgbClr val="E400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324448" y="4279392"/>
            <a:ext cx="5212080" cy="1938528"/>
          </a:xfrm>
          <a:prstGeom prst="rect">
            <a:avLst/>
          </a:prstGeom>
          <a:solidFill>
            <a:srgbClr val="FBF5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598768" y="44348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57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MÍ NO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598768" y="51206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Me gusta madrugar.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Pues a mí no.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E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8279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00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Tu turno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-282102" y="1998063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C057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🍽️ COMIDAS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1645920" y="3231529"/>
            <a:ext cx="8503920" cy="914400"/>
          </a:xfrm>
          <a:prstGeom prst="roundRect">
            <a:avLst>
              <a:gd name="adj" fmla="val 10000"/>
            </a:avLst>
          </a:prstGeom>
          <a:solidFill>
            <a:srgbClr val="FBF5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828800" y="3231529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¿Te gusta la comida picante?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566160" y="4601182"/>
            <a:ext cx="1051560" cy="502920"/>
          </a:xfrm>
          <a:prstGeom prst="roundRect">
            <a:avLst>
              <a:gd name="adj" fmla="val 18182"/>
            </a:avLst>
          </a:prstGeom>
          <a:solidFill>
            <a:srgbClr val="E400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566160" y="4601182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MÍ TAMBIÉN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92040" y="4601182"/>
            <a:ext cx="1051560" cy="502920"/>
          </a:xfrm>
          <a:prstGeom prst="roundRect">
            <a:avLst>
              <a:gd name="adj" fmla="val 18182"/>
            </a:avLst>
          </a:prstGeom>
          <a:solidFill>
            <a:srgbClr val="E400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892040" y="4601182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MÍ TAMPOCO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4601182"/>
            <a:ext cx="1051560" cy="502920"/>
          </a:xfrm>
          <a:prstGeom prst="roundRect">
            <a:avLst>
              <a:gd name="adj" fmla="val 18182"/>
            </a:avLst>
          </a:prstGeom>
          <a:solidFill>
            <a:srgbClr val="E400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217920" y="4601182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MÍ SÍ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543800" y="4601182"/>
            <a:ext cx="1051560" cy="502920"/>
          </a:xfrm>
          <a:prstGeom prst="roundRect">
            <a:avLst>
              <a:gd name="adj" fmla="val 18182"/>
            </a:avLst>
          </a:prstGeom>
          <a:solidFill>
            <a:srgbClr val="E400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543800" y="4601182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MÍ NO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E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00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Tu turno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82296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C057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🚇 LUGARES Y TRANSPORTES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1828800" y="2103120"/>
            <a:ext cx="8503920" cy="914400"/>
          </a:xfrm>
          <a:prstGeom prst="roundRect">
            <a:avLst>
              <a:gd name="adj" fmla="val 10000"/>
            </a:avLst>
          </a:prstGeom>
          <a:solidFill>
            <a:srgbClr val="FBF5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011680" y="210312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¿Te gusta viajar en metro?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828800" y="3154680"/>
            <a:ext cx="8503920" cy="914400"/>
          </a:xfrm>
          <a:prstGeom prst="roundRect">
            <a:avLst>
              <a:gd name="adj" fmla="val 10000"/>
            </a:avLst>
          </a:prstGeom>
          <a:solidFill>
            <a:srgbClr val="FBF5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011680" y="315468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¿Te gusta ir al supermercado?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566160" y="4630366"/>
            <a:ext cx="1051560" cy="502920"/>
          </a:xfrm>
          <a:prstGeom prst="roundRect">
            <a:avLst>
              <a:gd name="adj" fmla="val 18182"/>
            </a:avLst>
          </a:prstGeom>
          <a:solidFill>
            <a:srgbClr val="E400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566160" y="4630366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MÍ TAMBIÉN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92040" y="4630366"/>
            <a:ext cx="1051560" cy="502920"/>
          </a:xfrm>
          <a:prstGeom prst="roundRect">
            <a:avLst>
              <a:gd name="adj" fmla="val 18182"/>
            </a:avLst>
          </a:prstGeom>
          <a:solidFill>
            <a:srgbClr val="E400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892040" y="4630366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MÍ TAMPOCO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4630366"/>
            <a:ext cx="1051560" cy="502920"/>
          </a:xfrm>
          <a:prstGeom prst="roundRect">
            <a:avLst>
              <a:gd name="adj" fmla="val 18182"/>
            </a:avLst>
          </a:prstGeom>
          <a:solidFill>
            <a:srgbClr val="E400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217920" y="4630366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MÍ SÍ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43800" y="4630366"/>
            <a:ext cx="1051560" cy="502920"/>
          </a:xfrm>
          <a:prstGeom prst="roundRect">
            <a:avLst>
              <a:gd name="adj" fmla="val 18182"/>
            </a:avLst>
          </a:prstGeom>
          <a:solidFill>
            <a:srgbClr val="E400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543800" y="4630366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MÍ NO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E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00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Tu turno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82296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C057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⚽ DEPORTES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1828800" y="2103120"/>
            <a:ext cx="8503920" cy="914400"/>
          </a:xfrm>
          <a:prstGeom prst="roundRect">
            <a:avLst>
              <a:gd name="adj" fmla="val 10000"/>
            </a:avLst>
          </a:prstGeom>
          <a:solidFill>
            <a:srgbClr val="FBF5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011680" y="210312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¿Te gusta el fútbol?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828800" y="3154680"/>
            <a:ext cx="8503920" cy="914400"/>
          </a:xfrm>
          <a:prstGeom prst="roundRect">
            <a:avLst>
              <a:gd name="adj" fmla="val 10000"/>
            </a:avLst>
          </a:prstGeom>
          <a:solidFill>
            <a:srgbClr val="FBF5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011680" y="315468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¿Te gusta la natación?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702347" y="4698460"/>
            <a:ext cx="1051560" cy="502920"/>
          </a:xfrm>
          <a:prstGeom prst="roundRect">
            <a:avLst>
              <a:gd name="adj" fmla="val 18182"/>
            </a:avLst>
          </a:prstGeom>
          <a:solidFill>
            <a:srgbClr val="E400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702347" y="469846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MÍ TAMBIÉN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8227" y="4698460"/>
            <a:ext cx="1051560" cy="502920"/>
          </a:xfrm>
          <a:prstGeom prst="roundRect">
            <a:avLst>
              <a:gd name="adj" fmla="val 18182"/>
            </a:avLst>
          </a:prstGeom>
          <a:solidFill>
            <a:srgbClr val="E400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028227" y="469846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MÍ TAMPOCO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54107" y="4698460"/>
            <a:ext cx="1051560" cy="502920"/>
          </a:xfrm>
          <a:prstGeom prst="roundRect">
            <a:avLst>
              <a:gd name="adj" fmla="val 18182"/>
            </a:avLst>
          </a:prstGeom>
          <a:solidFill>
            <a:srgbClr val="E400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354107" y="469846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MÍ SÍ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79987" y="4698460"/>
            <a:ext cx="1051560" cy="502920"/>
          </a:xfrm>
          <a:prstGeom prst="roundRect">
            <a:avLst>
              <a:gd name="adj" fmla="val 18182"/>
            </a:avLst>
          </a:prstGeom>
          <a:solidFill>
            <a:srgbClr val="E400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679987" y="469846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MÍ NO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E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00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Tu turno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82296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C057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👨‍👩‍👧 FAMILIA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1828800" y="2103120"/>
            <a:ext cx="8503920" cy="914400"/>
          </a:xfrm>
          <a:prstGeom prst="roundRect">
            <a:avLst>
              <a:gd name="adj" fmla="val 10000"/>
            </a:avLst>
          </a:prstGeom>
          <a:solidFill>
            <a:srgbClr val="FBF5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011680" y="210312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¿Te gustan las fiestas familiares?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444240" y="3589021"/>
            <a:ext cx="1051560" cy="502920"/>
          </a:xfrm>
          <a:prstGeom prst="roundRect">
            <a:avLst>
              <a:gd name="adj" fmla="val 18182"/>
            </a:avLst>
          </a:prstGeom>
          <a:solidFill>
            <a:srgbClr val="E400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444240" y="3589021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MÍ TAMBIÉN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70120" y="3589021"/>
            <a:ext cx="1051560" cy="502920"/>
          </a:xfrm>
          <a:prstGeom prst="roundRect">
            <a:avLst>
              <a:gd name="adj" fmla="val 18182"/>
            </a:avLst>
          </a:prstGeom>
          <a:solidFill>
            <a:srgbClr val="E400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770120" y="3589021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MÍ TAMPOCO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96000" y="3589021"/>
            <a:ext cx="1051560" cy="502920"/>
          </a:xfrm>
          <a:prstGeom prst="roundRect">
            <a:avLst>
              <a:gd name="adj" fmla="val 18182"/>
            </a:avLst>
          </a:prstGeom>
          <a:solidFill>
            <a:srgbClr val="E400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096000" y="3589021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MÍ SÍ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21880" y="3589021"/>
            <a:ext cx="1051560" cy="502920"/>
          </a:xfrm>
          <a:prstGeom prst="roundRect">
            <a:avLst>
              <a:gd name="adj" fmla="val 18182"/>
            </a:avLst>
          </a:prstGeom>
          <a:solidFill>
            <a:srgbClr val="E400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421880" y="3589021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MÍ NO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E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00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Tu turno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82296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C057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🌅 RUTINA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1828800" y="2103120"/>
            <a:ext cx="8503920" cy="914400"/>
          </a:xfrm>
          <a:prstGeom prst="roundRect">
            <a:avLst>
              <a:gd name="adj" fmla="val 10000"/>
            </a:avLst>
          </a:prstGeom>
          <a:solidFill>
            <a:srgbClr val="FBF5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011680" y="210312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¿Te gusta levantarte temprano?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828800" y="3154680"/>
            <a:ext cx="8503920" cy="914400"/>
          </a:xfrm>
          <a:prstGeom prst="roundRect">
            <a:avLst>
              <a:gd name="adj" fmla="val 10000"/>
            </a:avLst>
          </a:prstGeom>
          <a:solidFill>
            <a:srgbClr val="FBF5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011680" y="315468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¿Te gusta cocinar?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828800" y="4206240"/>
            <a:ext cx="8503920" cy="914400"/>
          </a:xfrm>
          <a:prstGeom prst="roundRect">
            <a:avLst>
              <a:gd name="adj" fmla="val 10000"/>
            </a:avLst>
          </a:prstGeom>
          <a:solidFill>
            <a:srgbClr val="FBF5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2011680" y="420624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¿Te gusta dormir hasta tarde?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566160" y="5943600"/>
            <a:ext cx="1051560" cy="502920"/>
          </a:xfrm>
          <a:prstGeom prst="roundRect">
            <a:avLst>
              <a:gd name="adj" fmla="val 18182"/>
            </a:avLst>
          </a:prstGeom>
          <a:solidFill>
            <a:srgbClr val="E400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566160" y="594360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MÍ TAMBIÉN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92040" y="5943600"/>
            <a:ext cx="1051560" cy="502920"/>
          </a:xfrm>
          <a:prstGeom prst="roundRect">
            <a:avLst>
              <a:gd name="adj" fmla="val 18182"/>
            </a:avLst>
          </a:prstGeom>
          <a:solidFill>
            <a:srgbClr val="E400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892040" y="594360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MÍ TAMPOCO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5943600"/>
            <a:ext cx="1051560" cy="502920"/>
          </a:xfrm>
          <a:prstGeom prst="roundRect">
            <a:avLst>
              <a:gd name="adj" fmla="val 18182"/>
            </a:avLst>
          </a:prstGeom>
          <a:solidFill>
            <a:srgbClr val="E400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217920" y="594360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MÍ SÍ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543800" y="5943600"/>
            <a:ext cx="1051560" cy="502920"/>
          </a:xfrm>
          <a:prstGeom prst="roundRect">
            <a:avLst>
              <a:gd name="adj" fmla="val 18182"/>
            </a:avLst>
          </a:prstGeom>
          <a:solidFill>
            <a:srgbClr val="E400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43800" y="594360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MÍ NO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E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00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Tu turno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82296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C057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📅 DÍAS, ESTACIONES Y HORAS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1828800" y="2103120"/>
            <a:ext cx="8503920" cy="914400"/>
          </a:xfrm>
          <a:prstGeom prst="roundRect">
            <a:avLst>
              <a:gd name="adj" fmla="val 10000"/>
            </a:avLst>
          </a:prstGeom>
          <a:solidFill>
            <a:srgbClr val="FBF5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011680" y="210312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¿Te gusta el invierno?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828800" y="3154680"/>
            <a:ext cx="8503920" cy="914400"/>
          </a:xfrm>
          <a:prstGeom prst="roundRect">
            <a:avLst>
              <a:gd name="adj" fmla="val 10000"/>
            </a:avLst>
          </a:prstGeom>
          <a:solidFill>
            <a:srgbClr val="FBF5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011680" y="315468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¿Te gustan los lunes?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828800" y="4206240"/>
            <a:ext cx="8503920" cy="914400"/>
          </a:xfrm>
          <a:prstGeom prst="roundRect">
            <a:avLst>
              <a:gd name="adj" fmla="val 10000"/>
            </a:avLst>
          </a:prstGeom>
          <a:solidFill>
            <a:srgbClr val="FBF5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2011680" y="420624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¿Te gusta estudiar de noche?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566160" y="5692140"/>
            <a:ext cx="1051560" cy="502920"/>
          </a:xfrm>
          <a:prstGeom prst="roundRect">
            <a:avLst>
              <a:gd name="adj" fmla="val 18182"/>
            </a:avLst>
          </a:prstGeom>
          <a:solidFill>
            <a:srgbClr val="E400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566160" y="569214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MÍ TAMBIÉN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92040" y="5692140"/>
            <a:ext cx="1051560" cy="502920"/>
          </a:xfrm>
          <a:prstGeom prst="roundRect">
            <a:avLst>
              <a:gd name="adj" fmla="val 18182"/>
            </a:avLst>
          </a:prstGeom>
          <a:solidFill>
            <a:srgbClr val="E400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892040" y="569214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MÍ TAMPOCO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5692140"/>
            <a:ext cx="1051560" cy="502920"/>
          </a:xfrm>
          <a:prstGeom prst="roundRect">
            <a:avLst>
              <a:gd name="adj" fmla="val 18182"/>
            </a:avLst>
          </a:prstGeom>
          <a:solidFill>
            <a:srgbClr val="E400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217920" y="569214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MÍ SÍ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543800" y="5692140"/>
            <a:ext cx="1051560" cy="502920"/>
          </a:xfrm>
          <a:prstGeom prst="roundRect">
            <a:avLst>
              <a:gd name="adj" fmla="val 18182"/>
            </a:avLst>
          </a:prstGeom>
          <a:solidFill>
            <a:srgbClr val="E4007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43800" y="569214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MÍ NO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E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00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¿Coincidimos?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05" y="1146891"/>
            <a:ext cx="121916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21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Encuentra </a:t>
            </a:r>
            <a:r>
              <a:rPr lang="en-US" sz="4000" b="1" dirty="0">
                <a:solidFill>
                  <a:srgbClr val="E4007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</a:t>
            </a:r>
            <a:r>
              <a:rPr lang="en-US" sz="4000" b="1" dirty="0" err="1">
                <a:solidFill>
                  <a:srgbClr val="E4007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coincidencias</a:t>
            </a:r>
            <a:r>
              <a:rPr lang="en-US" sz="4000" dirty="0"/>
              <a:t> </a:t>
            </a:r>
            <a:r>
              <a:rPr lang="en-US" sz="4000" b="1" dirty="0">
                <a:solidFill>
                  <a:srgbClr val="2E21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 </a:t>
            </a:r>
            <a:r>
              <a:rPr lang="en-US" sz="4000" b="1" dirty="0">
                <a:solidFill>
                  <a:srgbClr val="E4007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</a:t>
            </a:r>
            <a:r>
              <a:rPr lang="en-US" sz="4000" b="1" dirty="0" err="1">
                <a:solidFill>
                  <a:srgbClr val="E4007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diferencias</a:t>
            </a:r>
            <a:r>
              <a:rPr lang="en-US" sz="4000" b="1" dirty="0">
                <a:solidFill>
                  <a:srgbClr val="E4007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98068" y="2606040"/>
            <a:ext cx="2377440" cy="640080"/>
          </a:xfrm>
          <a:prstGeom prst="roundRect">
            <a:avLst>
              <a:gd name="adj" fmla="val 14286"/>
            </a:avLst>
          </a:prstGeom>
          <a:solidFill>
            <a:srgbClr val="C0574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98068" y="2606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MÍ TAMBIÉN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04108" y="2606040"/>
            <a:ext cx="2377440" cy="640080"/>
          </a:xfrm>
          <a:prstGeom prst="roundRect">
            <a:avLst>
              <a:gd name="adj" fmla="val 14286"/>
            </a:avLst>
          </a:prstGeom>
          <a:solidFill>
            <a:srgbClr val="C0574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604108" y="2606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MÍ TAMPOCO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0148" y="2606040"/>
            <a:ext cx="2377440" cy="640080"/>
          </a:xfrm>
          <a:prstGeom prst="roundRect">
            <a:avLst>
              <a:gd name="adj" fmla="val 14286"/>
            </a:avLst>
          </a:prstGeom>
          <a:solidFill>
            <a:srgbClr val="C0574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210148" y="2606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MÍ SÍ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816188" y="2606040"/>
            <a:ext cx="2377440" cy="640080"/>
          </a:xfrm>
          <a:prstGeom prst="roundRect">
            <a:avLst>
              <a:gd name="adj" fmla="val 14286"/>
            </a:avLst>
          </a:prstGeom>
          <a:solidFill>
            <a:srgbClr val="C0574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816188" y="2606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MÍ NO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718408" y="3566160"/>
            <a:ext cx="1920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38100">
            <a:solidFill>
              <a:srgbClr val="C0574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5568" y="3703320"/>
            <a:ext cx="1645920" cy="16459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718408" y="5532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4007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3400" dirty="0"/>
          </a:p>
        </p:txBody>
      </p:sp>
      <p:sp>
        <p:nvSpPr>
          <p:cNvPr id="15" name="Shape 12"/>
          <p:cNvSpPr/>
          <p:nvPr/>
        </p:nvSpPr>
        <p:spPr>
          <a:xfrm>
            <a:off x="6553048" y="3566160"/>
            <a:ext cx="1920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38100">
            <a:solidFill>
              <a:srgbClr val="C0574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208" y="3703320"/>
            <a:ext cx="1645920" cy="1645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553048" y="5532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4007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831</Words>
  <Application>Microsoft Office PowerPoint</Application>
  <PresentationFormat>Widescreen</PresentationFormat>
  <Paragraphs>132</Paragraphs>
  <Slides>15</Slides>
  <Notes>15</Notes>
  <HiddenSlides>0</HiddenSlides>
  <MMClips>1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Arial Black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12 · ¿Coincidimos? · Valentina Ríos</dc:title>
  <dc:subject>PptxGenJS Presentation</dc:subject>
  <dc:creator>Juani</dc:creator>
  <cp:lastModifiedBy>Juan Antonio Morales</cp:lastModifiedBy>
  <cp:revision>2</cp:revision>
  <dcterms:created xsi:type="dcterms:W3CDTF">2026-08-13T04:26:39Z</dcterms:created>
  <dcterms:modified xsi:type="dcterms:W3CDTF">2026-08-13T04:36:20Z</dcterms:modified>
</cp:coreProperties>
</file>