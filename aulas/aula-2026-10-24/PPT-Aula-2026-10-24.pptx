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E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DE REPASO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Posesivos y acentuación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 </a:t>
            </a:r>
            <a:pPr indent="0" marL="0">
              <a:buNone/>
            </a:pPr>
            <a:r>
              <a:rPr lang="en-US" sz="2200" b="1" dirty="0">
                <a:solidFill>
                  <a:srgbClr val="F2A4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tuyo</a:t>
            </a:r>
            <a:pPr indent="0" marL="0">
              <a:buNone/>
            </a:pPr>
            <a:r>
              <a:rPr lang="en-US" sz="22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 ·  ¿Lleva </a:t>
            </a:r>
            <a:pPr indent="0" marL="0">
              <a:buNone/>
            </a:pPr>
            <a:r>
              <a:rPr lang="en-US" sz="2200" b="1" u="sng" dirty="0">
                <a:solidFill>
                  <a:srgbClr val="F2A4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tilde</a:t>
            </a:r>
            <a:pPr indent="0" marL="0">
              <a:buNone/>
            </a:pPr>
            <a:r>
              <a:rPr lang="en-US" sz="22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sábado 24 de octubre de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035040" y="10972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pic>
        <p:nvPicPr>
          <p:cNvPr id="7" name="Image 0" descr="Código QR: abre la clase en tu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80160"/>
            <a:ext cx="2103120" cy="2103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35040" y="3474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la clase en tu celular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vamos a repasar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889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Los posesivos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decir de quién es algo.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mochila. · La mochila es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· </a:t>
            </a:r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mía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la roja.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7863840" cy="13716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La acentuación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saber cuándo una palabra lleva tilde.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pPr indent="0" marL="0">
              <a:spcAft>
                <a:spcPts val="1000"/>
              </a:spcAft>
              <a:buNone/>
            </a:pPr>
            <a:r>
              <a:rPr lang="en-US" sz="17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spcAft>
                <a:spcPts val="1000"/>
              </a:spcAft>
              <a:buNone/>
            </a:pPr>
            <a:r>
              <a:rPr lang="en-US" sz="17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 · </a:t>
            </a:r>
            <a:pPr indent="0" marL="0">
              <a:spcAft>
                <a:spcPts val="1000"/>
              </a:spcAft>
              <a:buNone/>
            </a:pPr>
            <a:r>
              <a:rPr lang="en-US" sz="17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sica · </a:t>
            </a:r>
            <a:pPr indent="0" marL="0">
              <a:spcAft>
                <a:spcPts val="1000"/>
              </a:spcAft>
              <a:buNone/>
            </a:pPr>
            <a:r>
              <a:rPr lang="en-US" sz="17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¿</a:t>
            </a:r>
            <a:pPr indent="0" marL="0">
              <a:spcAft>
                <a:spcPts val="1000"/>
              </a:spcAft>
              <a:buNone/>
            </a:pPr>
            <a:r>
              <a:rPr lang="en-US" sz="17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3E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posesivos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¿De quién es?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¿Para qué sirven?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Dicen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quién es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una cosa. Hay dos formas, y la diferencia es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van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17373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37360"/>
            <a:ext cx="3749040" cy="12801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sustantivo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mochila.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749040" cy="12801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del verbo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mochila es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804672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dicen lo mismo. Cambia solo el lugar.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pronombre al posesivo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517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PRONOMBRE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DEL SUSTANTIVO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DESPUÉS DEL VERBO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tú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tuyo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tuyo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él / ella / usted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suyo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nosotros / nosotras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nuestro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nuestro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vosotros / vosotras (España)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vuestro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vuestro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ellos / ellas / ustedes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suyo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a / os / 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del sustantivo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pegados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sustantivo y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van solos.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863840" cy="24688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está </a:t>
            </a:r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celular?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llaves están en la mesa.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profesora es de Brasil.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trae </a:t>
            </a:r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cuaderno todos los sábados.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 del verbo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después del verbo (casi siempre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y sirven para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contestar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7863840" cy="21945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¿De quién es este celular? — Es </a:t>
            </a:r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¿Es </a:t>
            </a:r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tuya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chaqueta? — No, es </a:t>
            </a:r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suya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Estas llaves son </a:t>
            </a:r>
            <a:pPr indent="0" marL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nuestras</a:t>
            </a:r>
            <a:pPr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Concuerdan con la cosa, no con el dueño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dice: «Es </a:t>
            </a:r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mochila y son </a:t>
            </a:r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libros».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dice: «La mochila es </a:t>
            </a:r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los libros son </a:t>
            </a:r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míos</a:t>
            </a:r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dueño es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 hombre. Pero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mochila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femenino →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plural →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 nuevo: </a:t>
            </a:r>
            <a:pPr indent="0" marL="0">
              <a:buNone/>
            </a:pPr>
            <a:r>
              <a:rPr lang="en-US" sz="2600" b="1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mío</a:t>
            </a:r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buNone/>
            </a:pPr>
            <a:r>
              <a:rPr lang="en-US" sz="2600" b="1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tuya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artículo, el posesivo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reemplaza al sustantivo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Así no repetimos la palabra.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60020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00200"/>
            <a:ext cx="4846320" cy="14630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¿Cuál es tu mochila?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mía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la roja. ¿Y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tuya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mía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la negra.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00200"/>
            <a:ext cx="2651760" cy="14630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celular es viejo.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tuyo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nuevo.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804672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también después del sustantivo: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amigo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uno de mis amigos.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Ojo: </a:t>
            </a:r>
            <a:pPr indent="0" marL="0">
              <a:buNone/>
            </a:pPr>
            <a:r>
              <a:rPr lang="en-US" sz="2600" b="1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</a:t>
            </a:r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tiene muchos dueños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casa». ¿De quién? ¿De él? ¿De ella? ¿De usted? ¿De ellos?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aclarar, usamos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+ pronombre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casa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él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·  Es la casa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ella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casa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usted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·  Es la casa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ellos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nunca yo o tú. Es para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es para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 tuyo?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188720"/>
            <a:ext cx="3840480" cy="2286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Pon </a:t>
            </a:r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objeto tuyo</a:t>
            </a:r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mesa.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Mezclamos todo.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Toma un objeto y busca al dueño.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480560" y="114300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7720" y="1143000"/>
            <a:ext cx="3977640" cy="640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¿Es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tuyo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este bolígrafo?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3977640" cy="640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No, no es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ella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269748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697480"/>
            <a:ext cx="3977640" cy="640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Sí, es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¡Gracias!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347472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3474720"/>
            <a:ext cx="3977640" cy="6400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¿Cuál es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tuyo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3E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acentuación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¿Dónde cae la fuerza?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sílaba tónica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palabras tienen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sílaba más fuerte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la sílaba tónica. Para encontrarla, di la palabra en voz alta.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159252" y="16916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9050">
            <a:solidFill>
              <a:srgbClr val="DCD2B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59252" y="16916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37660" y="16916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B8452A"/>
          </a:solidFill>
          <a:ln w="19050">
            <a:solidFill>
              <a:srgbClr val="B845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37660" y="16916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116068" y="16916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9050">
            <a:solidFill>
              <a:srgbClr val="DCD2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16068" y="16916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648456" y="246888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9050">
            <a:solidFill>
              <a:srgbClr val="DCD2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48456" y="24688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626864" y="246888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B8452A"/>
          </a:solidFill>
          <a:ln w="19050">
            <a:solidFill>
              <a:srgbClr val="B845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26864" y="24688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fé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2670048" y="324612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9050">
            <a:solidFill>
              <a:srgbClr val="DCD2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70048" y="32461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648456" y="324612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B8452A"/>
          </a:solidFill>
          <a:ln w="19050">
            <a:solidFill>
              <a:srgbClr val="B845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48456" y="32461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lé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626864" y="324612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9050">
            <a:solidFill>
              <a:srgbClr val="DCD2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26864" y="32461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605272" y="324612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9050">
            <a:solidFill>
              <a:srgbClr val="DCD2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05272" y="32461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español hay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tilde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87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´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(á · é · í · ó · ú). No existe ^ ni `.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tipos de palabras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15184" cy="3200400"/>
          </a:xfrm>
          <a:prstGeom prst="roundRect">
            <a:avLst>
              <a:gd name="adj" fmla="val 2797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Agudas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251460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fuerza en la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sílaba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23160"/>
            <a:ext cx="2514600" cy="1645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</a:t>
            </a:r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ción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64408" y="1143000"/>
            <a:ext cx="2615184" cy="3200400"/>
          </a:xfrm>
          <a:prstGeom prst="roundRect">
            <a:avLst>
              <a:gd name="adj" fmla="val 2797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1568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Llanas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1783080"/>
            <a:ext cx="251460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fuerza en la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penúltima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10128" y="2423160"/>
            <a:ext cx="2514600" cy="1645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071616" y="1143000"/>
            <a:ext cx="2615184" cy="3200400"/>
          </a:xfrm>
          <a:prstGeom prst="roundRect">
            <a:avLst>
              <a:gd name="adj" fmla="val 2797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8776" y="1280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Esdrújulas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117336" y="1783080"/>
            <a:ext cx="2514600" cy="5486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fuerza en la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antepenúltima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17336" y="2423160"/>
            <a:ext cx="2514600" cy="1645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pPr indent="0" marL="0">
              <a:spcAft>
                <a:spcPts val="800"/>
              </a:spcAft>
              <a:buNone/>
            </a:pPr>
            <a:r>
              <a:rPr lang="en-US" sz="20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fono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Agudas · la última sílaba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4747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Llevan tilde si terminan en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365760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las palabras que terminan en consonante son agudas. Por eso, si terminan en n, s o vocal, la tilde avisa.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TILDE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TILDE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loj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glés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ciu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fá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ñol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Llanas · la penúltima sílaba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4747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Llevan tilde si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terminan en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365760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regla contraria a las agudas. Casi todas las palabras del español son llanas y terminan en vocal: por eso casi nunca llevan tilde.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TILDE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TILDE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lá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piz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xa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fá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zú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</a:t>
                      </a:r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Esdrújulas · la antepenúltima sílaba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34747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Llevan tilde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3657600" cy="2011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excepción. Si la fuerza está antes de la penúltima sílaba, la palabra lleva tilde.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SIEMPRE CON TILDE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mú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sica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sá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lám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pá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jaro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reglas en una tabla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¿DÓNDE ESTÁ LA FUERZA?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¿CUÁNDO LLEVA TILDE?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última sílaba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 en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Llana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penúltima sílaba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termina en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663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Esdrújula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antepenúltima sílaba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siempre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290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7EBC9"/>
          </a:solidFill>
          <a:ln w="12700">
            <a:solidFill>
              <a:srgbClr val="F7EBC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429000"/>
            <a:ext cx="8046720" cy="7315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pasos: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dividir en sílabas ·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decir la palabra y encontrar la fuerza ·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 qué tipo es ·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aplicar la regla.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 nuevo: la tilde que rompe la regla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llana y termina en vocal… ¿por qué lleva tilde?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8456" y="150876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B8452A"/>
          </a:solidFill>
          <a:ln w="19050">
            <a:solidFill>
              <a:srgbClr val="B845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48456" y="1508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dí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626864" y="150876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CF4"/>
          </a:solidFill>
          <a:ln w="19050">
            <a:solidFill>
              <a:srgbClr val="DCD2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6864" y="1508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286000"/>
            <a:ext cx="8412480" cy="7772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 fuerza cae en la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en la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está pegada a otra vocal, las dos se separan. La tilde marca esa separación,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aunque la regla diga que no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154680"/>
            <a:ext cx="7863840" cy="1234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pa</a:t>
            </a:r>
            <a:pPr indent="0" marL="0">
              <a:spcAft>
                <a:spcPts val="8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ís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Ra</a:t>
            </a:r>
            <a:pPr indent="0" marL="0">
              <a:spcAft>
                <a:spcPts val="8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spcAft>
                <a:spcPts val="8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frí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· Ma</a:t>
            </a:r>
            <a:pPr indent="0" marL="0">
              <a:spcAft>
                <a:spcPts val="8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rí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los posesivos: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míos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Misma palabra, otro significado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palabras de una sílaba no llevan tilde. Pero algunas sí, para no confundirlas: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</a:t>
            </a:r>
            <a:pPr indent="0" marL="0">
              <a:buNone/>
            </a:pPr>
            <a:r>
              <a:rPr lang="en-US" sz="2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m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libro. · Es para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4630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pPr indent="0" marL="0">
              <a:buNone/>
            </a:pPr>
            <a:r>
              <a:rPr lang="en-US" sz="2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t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ú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casa? · ¿Y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5059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/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</a:t>
            </a:r>
            <a:pPr indent="0" marL="0">
              <a:buNone/>
            </a:pPr>
            <a:r>
              <a:rPr lang="en-US" sz="2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2450592"/>
            <a:ext cx="25603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 es de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450592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45059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/ s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2450592"/>
            <a:ext cx="25603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quieres, voy. · ¡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claro!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438144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/ t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3438144"/>
            <a:ext cx="25603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invito a un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438144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438144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/ s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3438144"/>
            <a:ext cx="2560320" cy="8686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cómo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llama.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palabras que preguntan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preguntan o exclaman, llevan tilde 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</a:t>
            </a:r>
            <a:pPr indent="0" marL="0">
              <a:buNone/>
            </a:pPr>
            <a:r>
              <a:rPr lang="en-US" sz="17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</a:t>
            </a:r>
            <a:pPr indent="0" marL="0">
              <a:buNone/>
            </a:pPr>
            <a:r>
              <a:rPr lang="en-US" sz="17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qui</a:t>
            </a:r>
            <a:pPr indent="0" marL="0">
              <a:buNone/>
            </a:pPr>
            <a:r>
              <a:rPr lang="en-US" sz="17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</a:t>
            </a:r>
            <a:pPr indent="0" marL="0">
              <a:buNone/>
            </a:pPr>
            <a:r>
              <a:rPr lang="en-US" sz="17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· c</a:t>
            </a:r>
            <a:pPr indent="0" marL="0">
              <a:buNone/>
            </a:pPr>
            <a:r>
              <a:rPr lang="en-US" sz="17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</a:t>
            </a:r>
            <a:pPr indent="0" marL="0">
              <a:buNone/>
            </a:pPr>
            <a:r>
              <a:rPr lang="en-US" sz="17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 · cu</a:t>
            </a:r>
            <a:pPr indent="0" marL="0">
              <a:buNone/>
            </a:pPr>
            <a:r>
              <a:rPr lang="en-US" sz="17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</a:t>
            </a:r>
            <a:pPr indent="0" marL="0">
              <a:buNone/>
            </a:pPr>
            <a:r>
              <a:rPr lang="en-US" sz="17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ndo · d</a:t>
            </a:r>
            <a:pPr indent="0" marL="0">
              <a:buNone/>
            </a:pPr>
            <a:r>
              <a:rPr lang="en-US" sz="17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</a:t>
            </a:r>
            <a:pPr indent="0" marL="0">
              <a:buNone/>
            </a:pPr>
            <a:r>
              <a:rPr lang="en-US" sz="17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nde · cu</a:t>
            </a:r>
            <a:pPr indent="0" marL="0">
              <a:buNone/>
            </a:pPr>
            <a:r>
              <a:rPr lang="en-US" sz="17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</a:t>
            </a:r>
            <a:pPr indent="0" marL="0">
              <a:buNone/>
            </a:pPr>
            <a:r>
              <a:rPr lang="en-US" sz="17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nto · cu</a:t>
            </a:r>
            <a:pPr indent="0" marL="0">
              <a:buNone/>
            </a:pPr>
            <a:r>
              <a:rPr lang="en-US" sz="17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</a:t>
            </a:r>
            <a:pPr indent="0" marL="0">
              <a:buNone/>
            </a:pPr>
            <a:r>
              <a:rPr lang="en-US" sz="17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· por qu</a:t>
            </a:r>
            <a:pPr indent="0" marL="0">
              <a:buNone/>
            </a:pPr>
            <a:r>
              <a:rPr lang="en-US" sz="17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vives?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Vivo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donde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trabajo.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estudias español?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Porque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me gusta.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¡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lindo día!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Creo </a:t>
                      </a:r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</a:t>
                      </a:r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va a llover.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Ojo: en español la fuerza cambia de lugar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PORTUGUÉS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ECD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ESPAÑOL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B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te-le-</a:t>
                      </a:r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te-</a:t>
                      </a:r>
                      <a:pPr indent="0" marL="0">
                        <a:buNone/>
                      </a:pPr>
                      <a:r>
                        <a:rPr lang="en-US" sz="17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lé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-fo-no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fu-te-</a:t>
                      </a:r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fút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-bol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he-</a:t>
                      </a:r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rói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hé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-roe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o-ce-</a:t>
                      </a:r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o-</a:t>
                      </a:r>
                      <a:pPr indent="0" marL="0">
                        <a:buNone/>
                      </a:pPr>
                      <a:r>
                        <a:rPr lang="en-US" sz="17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cé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-a-no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po-</a:t>
                      </a:r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-cia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po-li-</a:t>
                      </a:r>
                      <a:pPr indent="0" marL="0">
                        <a:buNone/>
                      </a:pPr>
                      <a:r>
                        <a:rPr lang="en-US" sz="17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cí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cé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-re-bro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ce-</a:t>
                      </a:r>
                      <a:pPr indent="0" marL="0">
                        <a:buNone/>
                      </a:pPr>
                      <a:r>
                        <a:rPr lang="en-US" sz="1700" b="1" u="sng" dirty="0">
                          <a:solidFill>
                            <a:srgbClr val="B845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6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-bro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el cuaderno: ¿lleva tilde?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sílabas    2 · la fuerza    3 · el tipo    4 · ¿tilde?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630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42032" y="1371600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15184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542032" y="14630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reloj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26864" y="1371600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0016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14630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lapiz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11696" y="1371600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84848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463040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examen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8716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musica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542032" y="2395728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15184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42032" y="248716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cancion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626864" y="2395728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0016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248716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arbol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11696" y="2395728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84848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711696" y="2487168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ciudad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57200" y="3419856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511296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telefono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542032" y="3419856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15184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542032" y="3511296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4626864" y="3419856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00016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626864" y="3511296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711696" y="3419856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84848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711696" y="3511296"/>
            <a:ext cx="1938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mesa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el cuaderno: pon las tildes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¿Tu sabes donde esta mi libro?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47672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4767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El cuaderno es de el, no es mio.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752344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52344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¿Que musica te gusta? — A mi, el rock.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57016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57016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Si, este telefono es tuyo.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Respuestas: ¿lleva tilde?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sílabas    2 · la fuerza    3 · el tipo    4 · ¿tilde?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630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</a:t>
            </a:r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fé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476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aguda · vocal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371600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15184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14630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</a:t>
            </a:r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loj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542032" y="19476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aguda · j → 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371600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0016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14630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lá</a:t>
            </a:r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19476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llana · z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11696" y="1371600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84848" y="1417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146304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</a:t>
            </a:r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711696" y="19476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llana · n → 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95728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4871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</a:t>
            </a:r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sica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9718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esdrújula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42032" y="2395728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15184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542032" y="24871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</a:t>
            </a:r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ción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2542032" y="29718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aguda · 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2395728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0016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626864" y="24871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</a:t>
            </a:r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4626864" y="29718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llana · 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11696" y="2395728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84848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11696" y="24871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ciu</a:t>
            </a:r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6711696" y="29718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aguda · d → no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419856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0352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51129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</a:t>
            </a:r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lé</a:t>
            </a:r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fono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39959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esdrújula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42032" y="3419856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15184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542032" y="351129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fá</a:t>
            </a:r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cil</a:t>
            </a:r>
            <a:endParaRPr lang="en-US" sz="2200" dirty="0"/>
          </a:p>
        </p:txBody>
      </p:sp>
      <p:sp>
        <p:nvSpPr>
          <p:cNvPr id="44" name="Text 42"/>
          <p:cNvSpPr txBox="1"/>
          <p:nvPr/>
        </p:nvSpPr>
        <p:spPr>
          <a:xfrm>
            <a:off x="2542032" y="39959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llana · 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26864" y="3419856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00016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626864" y="351129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dí</a:t>
            </a:r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4626864" y="39959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hiato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711696" y="3419856"/>
            <a:ext cx="1938528" cy="896112"/>
          </a:xfrm>
          <a:prstGeom prst="roundRect">
            <a:avLst>
              <a:gd name="adj" fmla="val 8163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784848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711696" y="3511296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B84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</a:t>
            </a:r>
            <a:pPr algn="ctr"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6711696" y="399592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llana · vocal → no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Respuestas: pon las tildes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¿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sabes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mi libro?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47672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4767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El cuaderno es de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él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 es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mío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752344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52344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¿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música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 gusta? — A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mí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el rock.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57016"/>
            <a:ext cx="8229600" cy="676656"/>
          </a:xfrm>
          <a:prstGeom prst="roundRect">
            <a:avLst>
              <a:gd name="adj" fmla="val 10811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57016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este </a:t>
            </a:r>
            <a:pPr indent="0" marL="0">
              <a:buNone/>
            </a:pPr>
            <a:r>
              <a:rPr lang="en-US" sz="2000" b="1" dirty="0">
                <a:solidFill>
                  <a:srgbClr val="A87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teléfono</a:t>
            </a:r>
            <a:pPr indent="0" marL="0">
              <a:buNone/>
            </a:pPr>
            <a:r>
              <a:rPr lang="en-US" sz="2000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 tuyo.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Español A1 · Repaso · sábado 24 de octubre de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repasamos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FFCF4"/>
          </a:solidFill>
          <a:ln w="12700">
            <a:solidFill>
              <a:srgbClr val="FFFC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Posesivos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Acentuación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28800"/>
            <a:ext cx="3749040" cy="2377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mochila.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mochila es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mía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mía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la roja.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casa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ella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828800"/>
            <a:ext cx="3749040" cy="23774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pPr indent="0" marL="0">
              <a:spcAft>
                <a:spcPts val="10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fé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pPr indent="0" marL="0">
              <a:spcAft>
                <a:spcPts val="10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 · </a:t>
            </a:r>
            <a:pPr indent="0" marL="0">
              <a:spcAft>
                <a:spcPts val="10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sica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u="sng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B84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mío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/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mi / 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· ¿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B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3E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E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6 frases sobre las cosas de tu casa: ¿de quién son?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 </a:t>
            </a:r>
            <a:pPr algn="ctr" indent="0" marL="0">
              <a:buNone/>
            </a:pPr>
            <a:r>
              <a:rPr lang="en-US" sz="2000" b="1" dirty="0">
                <a:solidFill>
                  <a:srgbClr val="F2A4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</a:t>
            </a:r>
            <a:pPr algn="ctr" indent="0" marL="0">
              <a:buNone/>
            </a:pPr>
            <a:r>
              <a:rPr lang="en-US" sz="20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</a:t>
            </a:r>
            <a:pPr algn="ctr" indent="0" marL="0">
              <a:buNone/>
            </a:pPr>
            <a:r>
              <a:rPr lang="en-US" sz="2000" b="1" dirty="0">
                <a:solidFill>
                  <a:srgbClr val="F2A4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mío</a:t>
            </a:r>
            <a:pPr algn="ctr" indent="0" marL="0">
              <a:buNone/>
            </a:pPr>
            <a:r>
              <a:rPr lang="en-US" sz="20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</a:t>
            </a:r>
            <a:pPr algn="ctr" indent="0" marL="0">
              <a:buNone/>
            </a:pPr>
            <a:r>
              <a:rPr lang="en-US" sz="2000" b="1" dirty="0">
                <a:solidFill>
                  <a:srgbClr val="F2A4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mío</a:t>
            </a:r>
            <a:pPr algn="ctr" indent="0" marL="0">
              <a:buNone/>
            </a:pPr>
            <a:r>
              <a:rPr lang="en-US" sz="20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</a:t>
            </a:r>
            <a:pPr algn="ctr" indent="0" marL="0">
              <a:buNone/>
            </a:pPr>
            <a:r>
              <a:rPr lang="en-US" sz="2000" b="1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él / de ella</a:t>
            </a:r>
            <a:pPr algn="ctr" indent="0" marL="0">
              <a:buNone/>
            </a:pPr>
            <a:r>
              <a:rPr lang="en-US" sz="2000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y revisa las tildes.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E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¡Hasta el sábado!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Repaso · Posesivos y acentuación</dc:title>
  <dc:subject>PptxGenJS Presentation</dc:subject>
  <dc:creator>Juani</dc:creator>
  <cp:lastModifiedBy>Juani</cp:lastModifiedBy>
  <cp:revision>1</cp:revision>
  <dcterms:created xsi:type="dcterms:W3CDTF">2026-10-24T10:31:41Z</dcterms:created>
  <dcterms:modified xsi:type="dcterms:W3CDTF">2026-10-24T10:31:41Z</dcterms:modified>
</cp:coreProperties>
</file>