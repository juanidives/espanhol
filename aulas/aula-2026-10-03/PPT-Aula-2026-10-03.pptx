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9" r:id="rId4"/>
    <p:sldId id="260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F29FEDF7-B9EF-8B9B-1285-0AF75093E3BB}">
          <p14:sldIdLst>
            <p14:sldId id="256"/>
            <p14:sldId id="257"/>
            <p14:sldId id="259"/>
            <p14:sldId id="260"/>
          </p14:sldIdLst>
        </p14:section>
        <p14:section name="Escucha" id="{73EEF147-30E5-F83A-9574-91E8AE021ACA}">
          <p14:sldIdLst>
            <p14:sldId id="262"/>
          </p14:sldIdLst>
        </p14:section>
        <p14:section name="Gramática" id="{19388575-0670-174B-6130-8BA052BB2094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Juego" id="{E73F88EC-E096-2608-9E89-300113505594}">
          <p14:sldIdLst/>
        </p14:section>
        <p14:section name="Cierre" id="{26164831-B7F3-9E1B-B009-7866EB64F0CA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1719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2B25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143000"/>
            <a:ext cx="58521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5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">
    <p:bg>
      <p:bgPr>
        <a:solidFill>
          <a:srgbClr val="FB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o">
    <p:bg>
      <p:bgPr>
        <a:solidFill>
          <a:srgbClr val="FB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005840"/>
            <a:ext cx="11091672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4400" b="1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Izq">
    <p:bg>
      <p:bgPr>
        <a:solidFill>
          <a:srgbClr val="FB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943600" y="1371600"/>
            <a:ext cx="56692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Der">
    <p:bg>
      <p:bgPr>
        <a:solidFill>
          <a:srgbClr val="FB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371600"/>
            <a:ext cx="5760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a">
    <p:bg>
      <p:bgPr>
        <a:solidFill>
          <a:srgbClr val="FB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943600" y="1554480"/>
            <a:ext cx="56692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4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143000"/>
            <a:ext cx="5852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600" b="1" dirty="0">
                <a:solidFill>
                  <a:schemeClr val="accent3"/>
                </a:solidFill>
              </a:rPr>
              <a:t>40</a:t>
            </a:r>
            <a:r>
              <a:rPr lang="en-US" sz="5600" b="1" dirty="0">
                <a:solidFill>
                  <a:schemeClr val="bg1"/>
                </a:solidFill>
              </a:rPr>
              <a:t> cosas antes de los </a:t>
            </a:r>
            <a:r>
              <a:rPr lang="en-US" sz="5600" b="1" dirty="0">
                <a:solidFill>
                  <a:schemeClr val="accent3"/>
                </a:solidFill>
              </a:rPr>
              <a:t>40</a:t>
            </a:r>
            <a:endParaRPr lang="en-US" sz="5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Español A1 · sábado 3 de octubre de 2026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</a:rPr>
              <a:t>Pretérito perfecto compuesto: </a:t>
            </a:r>
            <a:r>
              <a:rPr lang="en-US" sz="2000" i="1" dirty="0">
                <a:solidFill>
                  <a:schemeClr val="bg2"/>
                </a:solidFill>
              </a:rPr>
              <a:t>he cantado, has visto, hemos hecho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4206240"/>
            <a:ext cx="21945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Código QR para abrir la clase en el celul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97680"/>
            <a:ext cx="2011680" cy="20116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017520" y="420624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</a:rPr>
              <a:t>Abre la clase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</a:rPr>
              <a:t>en tu celular</a:t>
            </a:r>
            <a:endParaRPr lang="en-US" sz="2400" dirty="0"/>
          </a:p>
        </p:txBody>
      </p:sp>
      <p:pic>
        <p:nvPicPr>
          <p:cNvPr id="8" name="Image 1" descr="/tmp/claude-0/-home-claude/57af3f85-8d7c-5414-a67a-07a992192c39/scratchpad/pptx/img/iker-personagem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457200"/>
            <a:ext cx="4754880" cy="5943600"/>
          </a:xfrm>
          <a:prstGeom prst="rect">
            <a:avLst/>
          </a:prstGeom>
          <a:effectLst>
            <a:outerShdw blurRad="101600" dist="38100" dir="5400000" algn="bl" rotWithShape="0">
              <a:srgbClr val="2B2523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Hoy vamos a…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495300" cy="4953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495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chemeClr val="bg1"/>
                </a:solidFill>
              </a:rPr>
              <a:t>1</a:t>
            </a:r>
            <a:endParaRPr lang="en-US" sz="2080" dirty="0"/>
          </a:p>
        </p:txBody>
      </p:sp>
      <p:sp>
        <p:nvSpPr>
          <p:cNvPr id="5" name="Text 3"/>
          <p:cNvSpPr txBox="1"/>
          <p:nvPr/>
        </p:nvSpPr>
        <p:spPr>
          <a:xfrm>
            <a:off x="1272540" y="1691640"/>
            <a:ext cx="103677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Escuchar</a:t>
            </a:r>
            <a:r>
              <a:rPr lang="en-US" sz="2600" dirty="0">
                <a:solidFill>
                  <a:schemeClr val="tx1"/>
                </a:solidFill>
              </a:rPr>
              <a:t> a Íker y conocer su lista de 40 cosas.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495300" cy="4953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548640" y="2788920"/>
            <a:ext cx="495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chemeClr val="bg1"/>
                </a:solidFill>
              </a:rPr>
              <a:t>2</a:t>
            </a:r>
            <a:endParaRPr lang="en-US" sz="2080" dirty="0"/>
          </a:p>
        </p:txBody>
      </p:sp>
      <p:sp>
        <p:nvSpPr>
          <p:cNvPr id="8" name="Text 6"/>
          <p:cNvSpPr txBox="1"/>
          <p:nvPr/>
        </p:nvSpPr>
        <p:spPr>
          <a:xfrm>
            <a:off x="1272540" y="2743200"/>
            <a:ext cx="103677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Descubrir</a:t>
            </a:r>
            <a:r>
              <a:rPr lang="en-US" sz="2600" dirty="0">
                <a:solidFill>
                  <a:schemeClr val="tx1"/>
                </a:solidFill>
              </a:rPr>
              <a:t> un nuevo tiempo verbal: Pretérito Perfecto Compuesto.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495300" cy="4953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548640" y="3840480"/>
            <a:ext cx="495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chemeClr val="bg1"/>
                </a:solidFill>
              </a:rPr>
              <a:t>3</a:t>
            </a:r>
            <a:endParaRPr lang="en-US" sz="2080" dirty="0"/>
          </a:p>
        </p:txBody>
      </p:sp>
      <p:sp>
        <p:nvSpPr>
          <p:cNvPr id="11" name="Text 9"/>
          <p:cNvSpPr txBox="1"/>
          <p:nvPr/>
        </p:nvSpPr>
        <p:spPr>
          <a:xfrm>
            <a:off x="1272540" y="3794760"/>
            <a:ext cx="103677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Jugar</a:t>
            </a:r>
            <a:r>
              <a:rPr lang="en-US" sz="2600" dirty="0">
                <a:solidFill>
                  <a:schemeClr val="tx1"/>
                </a:solidFill>
              </a:rPr>
              <a:t> con un compañero: ¿lo ha hecho o no?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0292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chemeClr val="tx1"/>
                </a:solidFill>
              </a:rPr>
              <a:t>Al final vas a poder preguntar: </a:t>
            </a:r>
            <a:r>
              <a:rPr lang="en-US" sz="3000" b="1" dirty="0">
                <a:solidFill>
                  <a:schemeClr val="accent1"/>
                </a:solidFill>
              </a:rPr>
              <a:t>¿Alguna vez has…?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0058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1"/>
                </a:solidFill>
              </a:rPr>
              <a:t>¿Qué cambió?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2377440" y="2468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tx2"/>
                </a:solidFill>
              </a:rPr>
              <a:t>Ayer</a:t>
            </a:r>
            <a:r>
              <a:rPr lang="en-US" sz="4400" b="1" dirty="0">
                <a:solidFill>
                  <a:schemeClr val="tx1"/>
                </a:solidFill>
              </a:rPr>
              <a:t>  </a:t>
            </a:r>
            <a:r>
              <a:rPr lang="en-US" sz="4400" b="1" dirty="0">
                <a:solidFill>
                  <a:schemeClr val="accent1"/>
                </a:solidFill>
              </a:rPr>
              <a:t>desayuné</a:t>
            </a:r>
            <a:r>
              <a:rPr lang="en-US" sz="4400" b="1" dirty="0">
                <a:solidFill>
                  <a:schemeClr val="tx1"/>
                </a:solidFill>
              </a:rPr>
              <a:t> café.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2377440" y="34290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Hoy</a:t>
            </a:r>
            <a:r>
              <a:rPr lang="en-US" sz="4400" b="1" dirty="0">
                <a:solidFill>
                  <a:schemeClr val="tx1"/>
                </a:solidFill>
              </a:rPr>
              <a:t>  </a:t>
            </a:r>
            <a:r>
              <a:rPr lang="en-US" sz="4400" b="1" u="sng" dirty="0">
                <a:solidFill>
                  <a:schemeClr val="accent1"/>
                </a:solidFill>
              </a:rPr>
              <a:t>he desayunado</a:t>
            </a:r>
            <a:r>
              <a:rPr lang="en-US" sz="4400" b="1" dirty="0">
                <a:solidFill>
                  <a:schemeClr val="tx1"/>
                </a:solidFill>
              </a:rPr>
              <a:t> café.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463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tx2"/>
                </a:solidFill>
              </a:rPr>
              <a:t>Mira el verbo: ¿cuántas palabras tiene?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943600" y="137160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Íker Etxeberria</a:t>
            </a:r>
            <a:endParaRPr lang="en-US" sz="3800" dirty="0"/>
          </a:p>
        </p:txBody>
      </p:sp>
      <p:pic>
        <p:nvPicPr>
          <p:cNvPr id="3" name="Image 0" descr="/tmp/claude-0/-home-claude/57af3f85-8d7c-5414-a67a-07a992192c39/scratchpad/pptx/img/iker-quadern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4754880" cy="5943600"/>
          </a:xfrm>
          <a:prstGeom prst="rect">
            <a:avLst/>
          </a:prstGeom>
          <a:effectLst>
            <a:outerShdw blurRad="101600" dist="38100" dir="5400000" algn="bl" rotWithShape="0">
              <a:srgbClr val="2B2523">
                <a:alpha val="25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5943600" y="2468880"/>
            <a:ext cx="5669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600" b="1" dirty="0">
                <a:solidFill>
                  <a:schemeClr val="tx1"/>
                </a:solidFill>
              </a:rPr>
              <a:t>34 años.</a:t>
            </a:r>
            <a:r>
              <a:rPr lang="en-US" sz="2600" dirty="0">
                <a:solidFill>
                  <a:schemeClr val="tx1"/>
                </a:solidFill>
              </a:rPr>
              <a:t> Hoy es su cumpleaños.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Es de </a:t>
            </a:r>
            <a:r>
              <a:rPr lang="en-US" sz="2600" b="1" dirty="0">
                <a:solidFill>
                  <a:schemeClr val="tx1"/>
                </a:solidFill>
              </a:rPr>
              <a:t>Bilbao</a:t>
            </a:r>
            <a:r>
              <a:rPr lang="en-US" sz="2600" dirty="0">
                <a:solidFill>
                  <a:schemeClr val="tx1"/>
                </a:solidFill>
              </a:rPr>
              <a:t>, España.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Es </a:t>
            </a:r>
            <a:r>
              <a:rPr lang="en-US" sz="2600" b="1" dirty="0">
                <a:solidFill>
                  <a:schemeClr val="tx1"/>
                </a:solidFill>
              </a:rPr>
              <a:t>fotógrafo de viajes</a:t>
            </a:r>
            <a:r>
              <a:rPr lang="en-US" sz="2600" dirty="0">
                <a:solidFill>
                  <a:schemeClr val="tx1"/>
                </a:solidFill>
              </a:rPr>
              <a:t>.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Tiene un cuaderno con una lista: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943600" y="475488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 cosas antes de los 40</a:t>
            </a:r>
            <a:endParaRPr lang="en-US" sz="3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Lo que dice Íker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3492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Hola, soy Íker. Hoy cumplo treinta y cuatro y esta mañana </a:t>
            </a:r>
            <a:r>
              <a:rPr lang="en-US" sz="1600" b="1" u="sng" dirty="0">
                <a:solidFill>
                  <a:schemeClr val="accent1"/>
                </a:solidFill>
              </a:rPr>
              <a:t>he abierto</a:t>
            </a:r>
            <a:r>
              <a:rPr lang="en-US" sz="1600" dirty="0">
                <a:solidFill>
                  <a:schemeClr val="tx1"/>
                </a:solidFill>
              </a:rPr>
              <a:t> mi cuaderno de las cuarenta cosas antes de los cuarenta. Lo empecé hace unos años, cuando tenía treinta. En aquella época pensaba que cuarenta estaba lejísimos.</a:t>
            </a:r>
            <a:endParaRPr lang="en-US" sz="16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Pues no.</a:t>
            </a:r>
            <a:endParaRPr lang="en-US" sz="16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Esta mañana </a:t>
            </a:r>
            <a:r>
              <a:rPr lang="en-US" sz="1600" b="1" u="sng" dirty="0">
                <a:solidFill>
                  <a:schemeClr val="accent1"/>
                </a:solidFill>
              </a:rPr>
              <a:t>he mirado</a:t>
            </a:r>
            <a:r>
              <a:rPr lang="en-US" sz="1600" dirty="0">
                <a:solidFill>
                  <a:schemeClr val="tx1"/>
                </a:solidFill>
              </a:rPr>
              <a:t> la lista y </a:t>
            </a:r>
            <a:r>
              <a:rPr lang="en-US" sz="1600" b="1" u="sng" dirty="0">
                <a:solidFill>
                  <a:schemeClr val="accent1"/>
                </a:solidFill>
              </a:rPr>
              <a:t>he contado</a:t>
            </a:r>
            <a:r>
              <a:rPr lang="en-US" sz="1600" dirty="0">
                <a:solidFill>
                  <a:schemeClr val="tx1"/>
                </a:solidFill>
              </a:rPr>
              <a:t> veintisiete cosas. Ya </a:t>
            </a:r>
            <a:r>
              <a:rPr lang="en-US" sz="1600" b="1" u="sng" dirty="0">
                <a:solidFill>
                  <a:schemeClr val="accent1"/>
                </a:solidFill>
              </a:rPr>
              <a:t>he estado</a:t>
            </a:r>
            <a:r>
              <a:rPr lang="en-US" sz="1600" dirty="0">
                <a:solidFill>
                  <a:schemeClr val="tx1"/>
                </a:solidFill>
              </a:rPr>
              <a:t> en Perú, </a:t>
            </a:r>
            <a:r>
              <a:rPr lang="en-US" sz="1600" b="1" u="sng" dirty="0">
                <a:solidFill>
                  <a:schemeClr val="accent1"/>
                </a:solidFill>
              </a:rPr>
              <a:t>he dormido</a:t>
            </a:r>
            <a:r>
              <a:rPr lang="en-US" sz="1600" dirty="0">
                <a:solidFill>
                  <a:schemeClr val="tx1"/>
                </a:solidFill>
              </a:rPr>
              <a:t> en un hostal de Cusco, </a:t>
            </a:r>
            <a:r>
              <a:rPr lang="en-US" sz="1600" b="1" u="sng" dirty="0">
                <a:solidFill>
                  <a:schemeClr val="accent1"/>
                </a:solidFill>
              </a:rPr>
              <a:t>he comido</a:t>
            </a:r>
            <a:r>
              <a:rPr lang="en-US" sz="1600" dirty="0">
                <a:solidFill>
                  <a:schemeClr val="tx1"/>
                </a:solidFill>
              </a:rPr>
              <a:t> bandeja paisa en Medellín y </a:t>
            </a:r>
            <a:r>
              <a:rPr lang="en-US" sz="1600" b="1" u="sng" dirty="0">
                <a:solidFill>
                  <a:schemeClr val="accent1"/>
                </a:solidFill>
              </a:rPr>
              <a:t>he visto</a:t>
            </a:r>
            <a:r>
              <a:rPr lang="en-US" sz="1600" dirty="0">
                <a:solidFill>
                  <a:schemeClr val="tx1"/>
                </a:solidFill>
              </a:rPr>
              <a:t> un partido en Buenos Aires. El año pasado aprendí a nadar… bueno, aprendí a no hundirme. Este año </a:t>
            </a:r>
            <a:r>
              <a:rPr lang="en-US" sz="1600" b="1" u="sng" dirty="0">
                <a:solidFill>
                  <a:schemeClr val="accent1"/>
                </a:solidFill>
              </a:rPr>
              <a:t>he corrido</a:t>
            </a:r>
            <a:r>
              <a:rPr lang="en-US" sz="1600" dirty="0">
                <a:solidFill>
                  <a:schemeClr val="tx1"/>
                </a:solidFill>
              </a:rPr>
              <a:t> diez kilómetros.</a:t>
            </a:r>
            <a:endParaRPr lang="en-US" sz="16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Pero había una cosa que siempre evitaba: cantar en público. De pequeño cantaba en casa, pero cuando había gente… nada. Nunca </a:t>
            </a:r>
            <a:r>
              <a:rPr lang="en-US" sz="1600" b="1" u="sng" dirty="0">
                <a:solidFill>
                  <a:schemeClr val="accent1"/>
                </a:solidFill>
              </a:rPr>
              <a:t>he cantado</a:t>
            </a:r>
            <a:r>
              <a:rPr lang="en-US" sz="1600" dirty="0">
                <a:solidFill>
                  <a:schemeClr val="tx1"/>
                </a:solidFill>
              </a:rPr>
              <a:t> delante de desconocidos.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291072" y="1463040"/>
            <a:ext cx="53492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Esta tarde mis amigos </a:t>
            </a:r>
            <a:r>
              <a:rPr lang="en-US" sz="1600" b="1" u="sng" dirty="0">
                <a:solidFill>
                  <a:schemeClr val="accent1"/>
                </a:solidFill>
              </a:rPr>
              <a:t>han venido</a:t>
            </a:r>
            <a:r>
              <a:rPr lang="en-US" sz="1600" dirty="0">
                <a:solidFill>
                  <a:schemeClr val="tx1"/>
                </a:solidFill>
              </a:rPr>
              <a:t> a casa. Uno vio mi lista y encontró el número treinta y dos: “cantar en público”.</a:t>
            </a:r>
            <a:endParaRPr lang="en-US" sz="16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Dos horas después estábamos en un karaoke.</a:t>
            </a:r>
            <a:endParaRPr lang="en-US" sz="16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Yo decía que no. Ellos se reían. Al final cogí el micrófono y canté.</a:t>
            </a:r>
            <a:endParaRPr lang="en-US" sz="16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Fatal.</a:t>
            </a:r>
            <a:endParaRPr lang="en-US" sz="16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Pero </a:t>
            </a:r>
            <a:r>
              <a:rPr lang="en-US" sz="1600" b="1" u="sng" dirty="0">
                <a:solidFill>
                  <a:schemeClr val="accent1"/>
                </a:solidFill>
              </a:rPr>
              <a:t>he cantado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Y nadie </a:t>
            </a:r>
            <a:r>
              <a:rPr lang="en-US" sz="1600" b="1" u="sng" dirty="0">
                <a:solidFill>
                  <a:schemeClr val="accent1"/>
                </a:solidFill>
              </a:rPr>
              <a:t>ha salido</a:t>
            </a:r>
            <a:r>
              <a:rPr lang="en-US" sz="1600" dirty="0">
                <a:solidFill>
                  <a:schemeClr val="tx1"/>
                </a:solidFill>
              </a:rPr>
              <a:t> corriendo. Bueno… uno fue al baño.</a:t>
            </a:r>
            <a:endParaRPr lang="en-US" sz="16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Así que hoy ya </a:t>
            </a:r>
            <a:r>
              <a:rPr lang="en-US" sz="1600" b="1" u="sng" dirty="0">
                <a:solidFill>
                  <a:schemeClr val="accent1"/>
                </a:solidFill>
              </a:rPr>
              <a:t>he tachado</a:t>
            </a:r>
            <a:r>
              <a:rPr lang="en-US" sz="1600" dirty="0">
                <a:solidFill>
                  <a:schemeClr val="tx1"/>
                </a:solidFill>
              </a:rPr>
              <a:t> el número treinta y dos.</a:t>
            </a:r>
            <a:endParaRPr lang="en-US" sz="16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¿Y vosotros? ¿Alguna vez </a:t>
            </a:r>
            <a:r>
              <a:rPr lang="en-US" sz="1600" b="1" u="sng" dirty="0">
                <a:solidFill>
                  <a:schemeClr val="accent1"/>
                </a:solidFill>
              </a:rPr>
              <a:t>habéis hecho</a:t>
            </a:r>
            <a:r>
              <a:rPr lang="en-US" sz="1600" dirty="0">
                <a:solidFill>
                  <a:schemeClr val="tx1"/>
                </a:solidFill>
              </a:rPr>
              <a:t> algo que os daba mucha vergüenza?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Cómo funciona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011680" cy="731520"/>
          </a:xfrm>
          <a:prstGeom prst="roundRect">
            <a:avLst>
              <a:gd name="adj" fmla="val 125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</a:rPr>
              <a:t>haber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4173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1"/>
                </a:solidFill>
              </a:rPr>
              <a:t>+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108960" y="1417320"/>
            <a:ext cx="2743200" cy="73152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3108960" y="14173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</a:rPr>
              <a:t>participio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4173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Dos palabras, siempre juntas.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468880"/>
            <a:ext cx="3511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Haber cambia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926080"/>
            <a:ext cx="35112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yo </a:t>
            </a:r>
            <a:r>
              <a:rPr lang="en-US" sz="1800" b="1" dirty="0">
                <a:solidFill>
                  <a:schemeClr val="accent1"/>
                </a:solidFill>
              </a:rPr>
              <a:t>he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tú </a:t>
            </a:r>
            <a:r>
              <a:rPr lang="en-US" sz="1800" b="1" dirty="0">
                <a:solidFill>
                  <a:schemeClr val="accent1"/>
                </a:solidFill>
              </a:rPr>
              <a:t>has</a:t>
            </a:r>
            <a:r>
              <a:rPr lang="en-US" sz="1800" dirty="0">
                <a:solidFill>
                  <a:schemeClr val="tx1"/>
                </a:solidFill>
              </a:rPr>
              <a:t> · vos </a:t>
            </a:r>
            <a:r>
              <a:rPr lang="en-US" sz="1800" b="1" dirty="0">
                <a:solidFill>
                  <a:schemeClr val="accent1"/>
                </a:solidFill>
              </a:rPr>
              <a:t>has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él / ella </a:t>
            </a:r>
            <a:r>
              <a:rPr lang="en-US" sz="1800" b="1" dirty="0">
                <a:solidFill>
                  <a:schemeClr val="accent1"/>
                </a:solidFill>
              </a:rPr>
              <a:t>ha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nosotros </a:t>
            </a:r>
            <a:r>
              <a:rPr lang="en-US" sz="1800" b="1" dirty="0">
                <a:solidFill>
                  <a:schemeClr val="accent1"/>
                </a:solidFill>
              </a:rPr>
              <a:t>hemos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vosotros </a:t>
            </a:r>
            <a:r>
              <a:rPr lang="en-US" sz="1800" b="1" dirty="0">
                <a:solidFill>
                  <a:schemeClr val="accent1"/>
                </a:solidFill>
              </a:rPr>
              <a:t>habéis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ellos </a:t>
            </a:r>
            <a:r>
              <a:rPr lang="en-US" sz="1800" b="1" dirty="0">
                <a:solidFill>
                  <a:schemeClr val="accent1"/>
                </a:solidFill>
              </a:rPr>
              <a:t>han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334256" y="2468880"/>
            <a:ext cx="3511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El participio nunca cambia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334256" y="2926080"/>
            <a:ext cx="35112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viaj</a:t>
            </a:r>
            <a:r>
              <a:rPr lang="en-US" sz="1800" strike="sngStrike" dirty="0">
                <a:solidFill>
                  <a:schemeClr val="tx2"/>
                </a:solidFill>
              </a:rPr>
              <a:t>ar</a:t>
            </a:r>
            <a:r>
              <a:rPr lang="en-US" sz="1800" dirty="0">
                <a:solidFill>
                  <a:schemeClr val="tx1"/>
                </a:solidFill>
              </a:rPr>
              <a:t> → viaj</a:t>
            </a:r>
            <a:r>
              <a:rPr lang="en-US" sz="1800" b="1" dirty="0">
                <a:solidFill>
                  <a:schemeClr val="accent1"/>
                </a:solidFill>
              </a:rPr>
              <a:t>ado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com</a:t>
            </a:r>
            <a:r>
              <a:rPr lang="en-US" sz="1800" strike="sngStrike" dirty="0">
                <a:solidFill>
                  <a:schemeClr val="tx2"/>
                </a:solidFill>
              </a:rPr>
              <a:t>er</a:t>
            </a:r>
            <a:r>
              <a:rPr lang="en-US" sz="1800" dirty="0">
                <a:solidFill>
                  <a:schemeClr val="tx1"/>
                </a:solidFill>
              </a:rPr>
              <a:t> → com</a:t>
            </a:r>
            <a:r>
              <a:rPr lang="en-US" sz="1800" b="1" dirty="0">
                <a:solidFill>
                  <a:schemeClr val="accent1"/>
                </a:solidFill>
              </a:rPr>
              <a:t>ido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viv</a:t>
            </a:r>
            <a:r>
              <a:rPr lang="en-US" sz="1800" strike="sngStrike" dirty="0">
                <a:solidFill>
                  <a:schemeClr val="tx2"/>
                </a:solidFill>
              </a:rPr>
              <a:t>ir</a:t>
            </a:r>
            <a:r>
              <a:rPr lang="en-US" sz="1800" dirty="0">
                <a:solidFill>
                  <a:schemeClr val="tx1"/>
                </a:solidFill>
              </a:rPr>
              <a:t> → viv</a:t>
            </a:r>
            <a:r>
              <a:rPr lang="en-US" sz="1800" b="1" dirty="0">
                <a:solidFill>
                  <a:schemeClr val="accent1"/>
                </a:solidFill>
              </a:rPr>
              <a:t>ido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119872" y="2468880"/>
            <a:ext cx="3511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Cuándo se usa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119872" y="2926080"/>
            <a:ext cx="35112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Experiencias de la vida:</a:t>
            </a:r>
            <a:r>
              <a:rPr lang="en-US" sz="1800" dirty="0">
                <a:solidFill>
                  <a:schemeClr val="tx1"/>
                </a:solidFill>
              </a:rPr>
              <a:t> alguna vez, nunca, ya, todavía no.</a:t>
            </a:r>
            <a:endParaRPr lang="en-US" sz="18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Un tiempo que no terminó:</a:t>
            </a:r>
            <a:r>
              <a:rPr lang="en-US" sz="1800" dirty="0">
                <a:solidFill>
                  <a:schemeClr val="tx1"/>
                </a:solidFill>
              </a:rPr>
              <a:t> hoy, esta semana, este año.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5257800"/>
            <a:ext cx="11091672" cy="114300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822960" y="5257800"/>
            <a:ext cx="5303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Hoy </a:t>
            </a:r>
            <a:r>
              <a:rPr lang="en-US" sz="2000" b="1" dirty="0">
                <a:solidFill>
                  <a:schemeClr val="accent1"/>
                </a:solidFill>
              </a:rPr>
              <a:t>he desayunado</a:t>
            </a:r>
            <a:r>
              <a:rPr lang="en-US" sz="2000" dirty="0">
                <a:solidFill>
                  <a:schemeClr val="tx1"/>
                </a:solidFill>
              </a:rPr>
              <a:t> café.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¿Alguna vez </a:t>
            </a:r>
            <a:r>
              <a:rPr lang="en-US" sz="2000" b="1" dirty="0">
                <a:solidFill>
                  <a:schemeClr val="accent1"/>
                </a:solidFill>
              </a:rPr>
              <a:t>has viajado</a:t>
            </a:r>
            <a:r>
              <a:rPr lang="en-US" sz="2000" dirty="0">
                <a:solidFill>
                  <a:schemeClr val="tx1"/>
                </a:solidFill>
              </a:rPr>
              <a:t> en avión?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5257800"/>
            <a:ext cx="5120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Nunca </a:t>
            </a:r>
            <a:r>
              <a:rPr lang="en-US" sz="2000" b="1" dirty="0">
                <a:solidFill>
                  <a:schemeClr val="accent1"/>
                </a:solidFill>
              </a:rPr>
              <a:t>he visto</a:t>
            </a:r>
            <a:r>
              <a:rPr lang="en-US" sz="2000" dirty="0">
                <a:solidFill>
                  <a:schemeClr val="tx1"/>
                </a:solidFill>
              </a:rPr>
              <a:t> la nieve.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Todavía no </a:t>
            </a:r>
            <a:r>
              <a:rPr lang="en-US" sz="2000" b="1" dirty="0">
                <a:solidFill>
                  <a:schemeClr val="accent1"/>
                </a:solidFill>
              </a:rPr>
              <a:t>hemos terminado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El verbo haber</a:t>
            </a:r>
            <a:endParaRPr lang="en-US" sz="3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5760720" cy="3803904"/>
        </p:xfrm>
        <a:graphic>
          <a:graphicData uri="http://schemas.openxmlformats.org/drawingml/2006/table">
            <a:tbl>
              <a:tblPr/>
              <a:tblGrid>
                <a:gridCol w="3456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4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BF5EA"/>
                          </a:solidFill>
                        </a:rPr>
                        <a:t>Pronombre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5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BF5EA"/>
                          </a:solidFill>
                        </a:rPr>
                        <a:t>haber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5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6A5F58"/>
                          </a:solidFill>
                        </a:rPr>
                        <a:t>yo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B23A2E"/>
                          </a:solidFill>
                        </a:rPr>
                        <a:t>he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6A5F58"/>
                          </a:solidFill>
                        </a:rPr>
                        <a:t>tú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B23A2E"/>
                          </a:solidFill>
                        </a:rPr>
                        <a:t>has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6A5F58"/>
                          </a:solidFill>
                        </a:rPr>
                        <a:t>vos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B23A2E"/>
                          </a:solidFill>
                        </a:rPr>
                        <a:t>has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6A5F58"/>
                          </a:solidFill>
                        </a:rPr>
                        <a:t>él / ella / usted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B23A2E"/>
                          </a:solidFill>
                        </a:rPr>
                        <a:t>ha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6A5F58"/>
                          </a:solidFill>
                        </a:rPr>
                        <a:t>nosotros/as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B23A2E"/>
                          </a:solidFill>
                        </a:rPr>
                        <a:t>hemos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6A5F58"/>
                          </a:solidFill>
                        </a:rPr>
                        <a:t>vosotros/as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B23A2E"/>
                          </a:solidFill>
                        </a:rPr>
                        <a:t>habéis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6A5F58"/>
                          </a:solidFill>
                        </a:rPr>
                        <a:t>ellos / ellas / ustedes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B23A2E"/>
                          </a:solidFill>
                        </a:rPr>
                        <a:t>han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858000" y="457200"/>
            <a:ext cx="4782312" cy="5943600"/>
          </a:xfrm>
          <a:prstGeom prst="roundRect">
            <a:avLst>
              <a:gd name="adj" fmla="val 229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 txBox="1"/>
          <p:nvPr/>
        </p:nvSpPr>
        <p:spPr>
          <a:xfrm>
            <a:off x="7178040" y="7772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Para qué sirve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178040" y="1234440"/>
            <a:ext cx="416052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Aquí </a:t>
            </a:r>
            <a:r>
              <a:rPr lang="en-US" sz="2000" i="1" dirty="0">
                <a:solidFill>
                  <a:schemeClr val="tx1"/>
                </a:solidFill>
              </a:rPr>
              <a:t>haber</a:t>
            </a:r>
            <a:r>
              <a:rPr lang="en-US" sz="2000" dirty="0">
                <a:solidFill>
                  <a:schemeClr val="tx1"/>
                </a:solidFill>
              </a:rPr>
              <a:t> es un ayudante: dice </a:t>
            </a:r>
            <a:r>
              <a:rPr lang="en-US" sz="2000" b="1" dirty="0">
                <a:solidFill>
                  <a:schemeClr val="tx1"/>
                </a:solidFill>
              </a:rPr>
              <a:t>quién</a:t>
            </a:r>
            <a:r>
              <a:rPr lang="en-US" sz="2000" dirty="0">
                <a:solidFill>
                  <a:schemeClr val="tx1"/>
                </a:solidFill>
              </a:rPr>
              <a:t> hizo la acción.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He</a:t>
            </a:r>
            <a:r>
              <a:rPr lang="en-US" sz="2000" dirty="0">
                <a:solidFill>
                  <a:schemeClr val="tx1"/>
                </a:solidFill>
              </a:rPr>
              <a:t> comido. (yo)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Hemos</a:t>
            </a:r>
            <a:r>
              <a:rPr lang="en-US" sz="2000" dirty="0">
                <a:solidFill>
                  <a:schemeClr val="tx1"/>
                </a:solidFill>
              </a:rPr>
              <a:t> comido. (nosotros)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178040" y="316382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Con «me, te, se, lo»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178040" y="3621024"/>
            <a:ext cx="4160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El pronombre va delante de </a:t>
            </a:r>
            <a:r>
              <a:rPr lang="en-US" sz="2000" i="1" dirty="0">
                <a:solidFill>
                  <a:schemeClr val="tx1"/>
                </a:solidFill>
              </a:rPr>
              <a:t>haber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Me </a:t>
            </a:r>
            <a:r>
              <a:rPr lang="en-US" sz="2000" b="1" dirty="0">
                <a:solidFill>
                  <a:schemeClr val="accent1"/>
                </a:solidFill>
              </a:rPr>
              <a:t>he</a:t>
            </a:r>
            <a:r>
              <a:rPr lang="en-US" sz="2000" dirty="0">
                <a:solidFill>
                  <a:schemeClr val="tx1"/>
                </a:solidFill>
              </a:rPr>
              <a:t> levantado temprano.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Lo </a:t>
            </a:r>
            <a:r>
              <a:rPr lang="en-US" sz="2000" b="1" dirty="0">
                <a:solidFill>
                  <a:schemeClr val="accent1"/>
                </a:solidFill>
              </a:rPr>
              <a:t>he</a:t>
            </a:r>
            <a:r>
              <a:rPr lang="en-US" sz="2000" dirty="0">
                <a:solidFill>
                  <a:schemeClr val="tx1"/>
                </a:solidFill>
              </a:rPr>
              <a:t> visto.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Verbos en -AR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-ar → </a:t>
            </a:r>
            <a:r>
              <a:rPr lang="en-US" sz="2400" b="1" dirty="0">
                <a:solidFill>
                  <a:schemeClr val="accent1"/>
                </a:solidFill>
              </a:rPr>
              <a:t>-ado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5760719" cy="3803904"/>
        </p:xfrm>
        <a:graphic>
          <a:graphicData uri="http://schemas.openxmlformats.org/drawingml/2006/table">
            <a:tbl>
              <a:tblPr/>
              <a:tblGrid>
                <a:gridCol w="26499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7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34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BF5EA"/>
                          </a:solidFill>
                        </a:rPr>
                        <a:t>Pronombre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5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BF5EA"/>
                          </a:solidFill>
                        </a:rPr>
                        <a:t>haber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5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BF5EA"/>
                          </a:solidFill>
                        </a:rPr>
                        <a:t>participio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5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6A5F58"/>
                          </a:solidFill>
                        </a:rPr>
                        <a:t>yo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B23A2E"/>
                          </a:solidFill>
                        </a:rPr>
                        <a:t>he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523"/>
                          </a:solidFill>
                        </a:rPr>
                        <a:t>viaj</a:t>
                      </a:r>
                      <a:r>
                        <a:rPr lang="en-US" sz="2000" b="1" dirty="0">
                          <a:solidFill>
                            <a:srgbClr val="B23A2E"/>
                          </a:solidFill>
                        </a:rPr>
                        <a:t>ado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6A5F58"/>
                          </a:solidFill>
                        </a:rPr>
                        <a:t>tú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B23A2E"/>
                          </a:solidFill>
                        </a:rPr>
                        <a:t>has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523"/>
                          </a:solidFill>
                        </a:rPr>
                        <a:t>viaj</a:t>
                      </a:r>
                      <a:r>
                        <a:rPr lang="en-US" sz="2000" b="1" dirty="0">
                          <a:solidFill>
                            <a:srgbClr val="B23A2E"/>
                          </a:solidFill>
                        </a:rPr>
                        <a:t>ado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6A5F58"/>
                          </a:solidFill>
                        </a:rPr>
                        <a:t>vos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B23A2E"/>
                          </a:solidFill>
                        </a:rPr>
                        <a:t>has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523"/>
                          </a:solidFill>
                        </a:rPr>
                        <a:t>viaj</a:t>
                      </a:r>
                      <a:r>
                        <a:rPr lang="en-US" sz="2000" b="1" dirty="0">
                          <a:solidFill>
                            <a:srgbClr val="B23A2E"/>
                          </a:solidFill>
                        </a:rPr>
                        <a:t>ado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6A5F58"/>
                          </a:solidFill>
                        </a:rPr>
                        <a:t>él / ella / usted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B23A2E"/>
                          </a:solidFill>
                        </a:rPr>
                        <a:t>ha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523"/>
                          </a:solidFill>
                        </a:rPr>
                        <a:t>viaj</a:t>
                      </a:r>
                      <a:r>
                        <a:rPr lang="en-US" sz="2000" b="1" dirty="0">
                          <a:solidFill>
                            <a:srgbClr val="B23A2E"/>
                          </a:solidFill>
                        </a:rPr>
                        <a:t>ado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6A5F58"/>
                          </a:solidFill>
                        </a:rPr>
                        <a:t>nosotros/as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B23A2E"/>
                          </a:solidFill>
                        </a:rPr>
                        <a:t>hemos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523"/>
                          </a:solidFill>
                        </a:rPr>
                        <a:t>viaj</a:t>
                      </a:r>
                      <a:r>
                        <a:rPr lang="en-US" sz="2000" b="1" dirty="0">
                          <a:solidFill>
                            <a:srgbClr val="B23A2E"/>
                          </a:solidFill>
                        </a:rPr>
                        <a:t>ado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6A5F58"/>
                          </a:solidFill>
                        </a:rPr>
                        <a:t>vosotros/as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B23A2E"/>
                          </a:solidFill>
                        </a:rPr>
                        <a:t>habéis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523"/>
                          </a:solidFill>
                        </a:rPr>
                        <a:t>viaj</a:t>
                      </a:r>
                      <a:r>
                        <a:rPr lang="en-US" sz="2000" b="1" dirty="0">
                          <a:solidFill>
                            <a:srgbClr val="B23A2E"/>
                          </a:solidFill>
                        </a:rPr>
                        <a:t>ado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6A5F58"/>
                          </a:solidFill>
                        </a:rPr>
                        <a:t>ellos / ellas / ustedes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B23A2E"/>
                          </a:solidFill>
                        </a:rPr>
                        <a:t>han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523"/>
                          </a:solidFill>
                        </a:rPr>
                        <a:t>viaj</a:t>
                      </a:r>
                      <a:r>
                        <a:rPr lang="en-US" sz="2000" b="1" dirty="0">
                          <a:solidFill>
                            <a:srgbClr val="B23A2E"/>
                          </a:solidFill>
                        </a:rPr>
                        <a:t>ado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858000" y="457200"/>
            <a:ext cx="4782312" cy="5943600"/>
          </a:xfrm>
          <a:prstGeom prst="roundRect">
            <a:avLst>
              <a:gd name="adj" fmla="val 229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 txBox="1"/>
          <p:nvPr/>
        </p:nvSpPr>
        <p:spPr>
          <a:xfrm>
            <a:off x="7178040" y="7772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Más verbos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178040" y="1234440"/>
            <a:ext cx="4160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hablar → </a:t>
            </a:r>
            <a:r>
              <a:rPr lang="en-US" sz="2000" b="1" dirty="0">
                <a:solidFill>
                  <a:schemeClr val="accent1"/>
                </a:solidFill>
              </a:rPr>
              <a:t>hablado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cantar → </a:t>
            </a:r>
            <a:r>
              <a:rPr lang="en-US" sz="2000" b="1" dirty="0">
                <a:solidFill>
                  <a:schemeClr val="accent1"/>
                </a:solidFill>
              </a:rPr>
              <a:t>cantado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desayunar → </a:t>
            </a:r>
            <a:r>
              <a:rPr lang="en-US" sz="2000" b="1" dirty="0">
                <a:solidFill>
                  <a:schemeClr val="accent1"/>
                </a:solidFill>
              </a:rPr>
              <a:t>desayunado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estar → </a:t>
            </a:r>
            <a:r>
              <a:rPr lang="en-US" sz="2000" b="1" dirty="0">
                <a:solidFill>
                  <a:schemeClr val="accent1"/>
                </a:solidFill>
              </a:rPr>
              <a:t>estado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tachar → </a:t>
            </a:r>
            <a:r>
              <a:rPr lang="en-US" sz="2000" b="1" dirty="0">
                <a:solidFill>
                  <a:schemeClr val="accent1"/>
                </a:solidFill>
              </a:rPr>
              <a:t>tachado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178040" y="34747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Ejemplos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178040" y="393192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He </a:t>
            </a:r>
            <a:r>
              <a:rPr lang="en-US" sz="2000" b="1" dirty="0">
                <a:solidFill>
                  <a:schemeClr val="accent1"/>
                </a:solidFill>
              </a:rPr>
              <a:t>estado</a:t>
            </a:r>
            <a:r>
              <a:rPr lang="en-US" sz="2000" dirty="0">
                <a:solidFill>
                  <a:schemeClr val="tx1"/>
                </a:solidFill>
              </a:rPr>
              <a:t> en Perú.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¿Has </a:t>
            </a:r>
            <a:r>
              <a:rPr lang="en-US" sz="2000" b="1" dirty="0">
                <a:solidFill>
                  <a:schemeClr val="accent1"/>
                </a:solidFill>
              </a:rPr>
              <a:t>cantado</a:t>
            </a:r>
            <a:r>
              <a:rPr lang="en-US" sz="2000" dirty="0">
                <a:solidFill>
                  <a:schemeClr val="tx1"/>
                </a:solidFill>
              </a:rPr>
              <a:t> en público?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Verbos en -ER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-er → </a:t>
            </a:r>
            <a:r>
              <a:rPr lang="en-US" sz="2400" b="1" dirty="0">
                <a:solidFill>
                  <a:schemeClr val="accent1"/>
                </a:solidFill>
              </a:rPr>
              <a:t>-ido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5760719" cy="3803904"/>
        </p:xfrm>
        <a:graphic>
          <a:graphicData uri="http://schemas.openxmlformats.org/drawingml/2006/table">
            <a:tbl>
              <a:tblPr/>
              <a:tblGrid>
                <a:gridCol w="26499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7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34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BF5EA"/>
                          </a:solidFill>
                        </a:rPr>
                        <a:t>Pronombre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5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BF5EA"/>
                          </a:solidFill>
                        </a:rPr>
                        <a:t>haber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5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BF5EA"/>
                          </a:solidFill>
                        </a:rPr>
                        <a:t>participio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5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6A5F58"/>
                          </a:solidFill>
                        </a:rPr>
                        <a:t>yo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B23A2E"/>
                          </a:solidFill>
                        </a:rPr>
                        <a:t>he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523"/>
                          </a:solidFill>
                        </a:rPr>
                        <a:t>com</a:t>
                      </a:r>
                      <a:r>
                        <a:rPr lang="en-US" sz="2000" b="1" dirty="0">
                          <a:solidFill>
                            <a:srgbClr val="B23A2E"/>
                          </a:solidFill>
                        </a:rPr>
                        <a:t>ido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6A5F58"/>
                          </a:solidFill>
                        </a:rPr>
                        <a:t>tú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B23A2E"/>
                          </a:solidFill>
                        </a:rPr>
                        <a:t>has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523"/>
                          </a:solidFill>
                        </a:rPr>
                        <a:t>com</a:t>
                      </a:r>
                      <a:r>
                        <a:rPr lang="en-US" sz="2000" b="1" dirty="0">
                          <a:solidFill>
                            <a:srgbClr val="B23A2E"/>
                          </a:solidFill>
                        </a:rPr>
                        <a:t>ido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6A5F58"/>
                          </a:solidFill>
                        </a:rPr>
                        <a:t>vos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B23A2E"/>
                          </a:solidFill>
                        </a:rPr>
                        <a:t>has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523"/>
                          </a:solidFill>
                        </a:rPr>
                        <a:t>com</a:t>
                      </a:r>
                      <a:r>
                        <a:rPr lang="en-US" sz="2000" b="1" dirty="0">
                          <a:solidFill>
                            <a:srgbClr val="B23A2E"/>
                          </a:solidFill>
                        </a:rPr>
                        <a:t>ido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6A5F58"/>
                          </a:solidFill>
                        </a:rPr>
                        <a:t>él / ella / usted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B23A2E"/>
                          </a:solidFill>
                        </a:rPr>
                        <a:t>ha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523"/>
                          </a:solidFill>
                        </a:rPr>
                        <a:t>com</a:t>
                      </a:r>
                      <a:r>
                        <a:rPr lang="en-US" sz="2000" b="1" dirty="0">
                          <a:solidFill>
                            <a:srgbClr val="B23A2E"/>
                          </a:solidFill>
                        </a:rPr>
                        <a:t>ido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6A5F58"/>
                          </a:solidFill>
                        </a:rPr>
                        <a:t>nosotros/as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B23A2E"/>
                          </a:solidFill>
                        </a:rPr>
                        <a:t>hemos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523"/>
                          </a:solidFill>
                        </a:rPr>
                        <a:t>com</a:t>
                      </a:r>
                      <a:r>
                        <a:rPr lang="en-US" sz="2000" b="1" dirty="0">
                          <a:solidFill>
                            <a:srgbClr val="B23A2E"/>
                          </a:solidFill>
                        </a:rPr>
                        <a:t>ido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6A5F58"/>
                          </a:solidFill>
                        </a:rPr>
                        <a:t>vosotros/as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B23A2E"/>
                          </a:solidFill>
                        </a:rPr>
                        <a:t>habéis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523"/>
                          </a:solidFill>
                        </a:rPr>
                        <a:t>com</a:t>
                      </a:r>
                      <a:r>
                        <a:rPr lang="en-US" sz="2000" b="1" dirty="0">
                          <a:solidFill>
                            <a:srgbClr val="B23A2E"/>
                          </a:solidFill>
                        </a:rPr>
                        <a:t>ido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6A5F58"/>
                          </a:solidFill>
                        </a:rPr>
                        <a:t>ellos / ellas / ustedes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B23A2E"/>
                          </a:solidFill>
                        </a:rPr>
                        <a:t>han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523"/>
                          </a:solidFill>
                        </a:rPr>
                        <a:t>com</a:t>
                      </a:r>
                      <a:r>
                        <a:rPr lang="en-US" sz="2000" b="1" dirty="0">
                          <a:solidFill>
                            <a:srgbClr val="B23A2E"/>
                          </a:solidFill>
                        </a:rPr>
                        <a:t>ido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858000" y="457200"/>
            <a:ext cx="4782312" cy="5943600"/>
          </a:xfrm>
          <a:prstGeom prst="roundRect">
            <a:avLst>
              <a:gd name="adj" fmla="val 229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 txBox="1"/>
          <p:nvPr/>
        </p:nvSpPr>
        <p:spPr>
          <a:xfrm>
            <a:off x="7178040" y="7772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Más verbos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178040" y="1234440"/>
            <a:ext cx="4160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beber → </a:t>
            </a:r>
            <a:r>
              <a:rPr lang="en-US" sz="2000" b="1" dirty="0">
                <a:solidFill>
                  <a:schemeClr val="accent1"/>
                </a:solidFill>
              </a:rPr>
              <a:t>bebido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correr → </a:t>
            </a:r>
            <a:r>
              <a:rPr lang="en-US" sz="2000" b="1" dirty="0">
                <a:solidFill>
                  <a:schemeClr val="accent1"/>
                </a:solidFill>
              </a:rPr>
              <a:t>corrido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perder → </a:t>
            </a:r>
            <a:r>
              <a:rPr lang="en-US" sz="2000" b="1" dirty="0">
                <a:solidFill>
                  <a:schemeClr val="accent1"/>
                </a:solidFill>
              </a:rPr>
              <a:t>perdido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tener → </a:t>
            </a:r>
            <a:r>
              <a:rPr lang="en-US" sz="2000" b="1" dirty="0">
                <a:solidFill>
                  <a:schemeClr val="accent1"/>
                </a:solidFill>
              </a:rPr>
              <a:t>tenido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ser → </a:t>
            </a:r>
            <a:r>
              <a:rPr lang="en-US" sz="2000" b="1" dirty="0">
                <a:solidFill>
                  <a:schemeClr val="accent1"/>
                </a:solidFill>
              </a:rPr>
              <a:t>sido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178040" y="34747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Ejemplos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178040" y="393192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He </a:t>
            </a:r>
            <a:r>
              <a:rPr lang="en-US" sz="2000" b="1" dirty="0">
                <a:solidFill>
                  <a:schemeClr val="accent1"/>
                </a:solidFill>
              </a:rPr>
              <a:t>comido</a:t>
            </a:r>
            <a:r>
              <a:rPr lang="en-US" sz="2000" dirty="0">
                <a:solidFill>
                  <a:schemeClr val="tx1"/>
                </a:solidFill>
              </a:rPr>
              <a:t> bandeja paisa.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Este año he </a:t>
            </a:r>
            <a:r>
              <a:rPr lang="en-US" sz="2000" b="1" dirty="0">
                <a:solidFill>
                  <a:schemeClr val="accent1"/>
                </a:solidFill>
              </a:rPr>
              <a:t>corrido</a:t>
            </a:r>
            <a:r>
              <a:rPr lang="en-US" sz="2000" dirty="0">
                <a:solidFill>
                  <a:schemeClr val="tx1"/>
                </a:solidFill>
              </a:rPr>
              <a:t> diez kilómetros.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Verbos en -IR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-ir → </a:t>
            </a:r>
            <a:r>
              <a:rPr lang="en-US" sz="2400" b="1" dirty="0">
                <a:solidFill>
                  <a:schemeClr val="accent1"/>
                </a:solidFill>
              </a:rPr>
              <a:t>-ido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5760719" cy="3803904"/>
        </p:xfrm>
        <a:graphic>
          <a:graphicData uri="http://schemas.openxmlformats.org/drawingml/2006/table">
            <a:tbl>
              <a:tblPr/>
              <a:tblGrid>
                <a:gridCol w="26499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7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34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BF5EA"/>
                          </a:solidFill>
                        </a:rPr>
                        <a:t>Pronombre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5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BF5EA"/>
                          </a:solidFill>
                        </a:rPr>
                        <a:t>haber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5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BF5EA"/>
                          </a:solidFill>
                        </a:rPr>
                        <a:t>participio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5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6A5F58"/>
                          </a:solidFill>
                        </a:rPr>
                        <a:t>yo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B23A2E"/>
                          </a:solidFill>
                        </a:rPr>
                        <a:t>he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523"/>
                          </a:solidFill>
                        </a:rPr>
                        <a:t>viv</a:t>
                      </a:r>
                      <a:r>
                        <a:rPr lang="en-US" sz="2000" b="1" dirty="0">
                          <a:solidFill>
                            <a:srgbClr val="B23A2E"/>
                          </a:solidFill>
                        </a:rPr>
                        <a:t>ido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6A5F58"/>
                          </a:solidFill>
                        </a:rPr>
                        <a:t>tú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B23A2E"/>
                          </a:solidFill>
                        </a:rPr>
                        <a:t>has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523"/>
                          </a:solidFill>
                        </a:rPr>
                        <a:t>viv</a:t>
                      </a:r>
                      <a:r>
                        <a:rPr lang="en-US" sz="2000" b="1" dirty="0">
                          <a:solidFill>
                            <a:srgbClr val="B23A2E"/>
                          </a:solidFill>
                        </a:rPr>
                        <a:t>ido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6A5F58"/>
                          </a:solidFill>
                        </a:rPr>
                        <a:t>vos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B23A2E"/>
                          </a:solidFill>
                        </a:rPr>
                        <a:t>has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523"/>
                          </a:solidFill>
                        </a:rPr>
                        <a:t>viv</a:t>
                      </a:r>
                      <a:r>
                        <a:rPr lang="en-US" sz="2000" b="1" dirty="0">
                          <a:solidFill>
                            <a:srgbClr val="B23A2E"/>
                          </a:solidFill>
                        </a:rPr>
                        <a:t>ido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6A5F58"/>
                          </a:solidFill>
                        </a:rPr>
                        <a:t>él / ella / usted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B23A2E"/>
                          </a:solidFill>
                        </a:rPr>
                        <a:t>ha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523"/>
                          </a:solidFill>
                        </a:rPr>
                        <a:t>viv</a:t>
                      </a:r>
                      <a:r>
                        <a:rPr lang="en-US" sz="2000" b="1" dirty="0">
                          <a:solidFill>
                            <a:srgbClr val="B23A2E"/>
                          </a:solidFill>
                        </a:rPr>
                        <a:t>ido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6A5F58"/>
                          </a:solidFill>
                        </a:rPr>
                        <a:t>nosotros/as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B23A2E"/>
                          </a:solidFill>
                        </a:rPr>
                        <a:t>hemos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523"/>
                          </a:solidFill>
                        </a:rPr>
                        <a:t>viv</a:t>
                      </a:r>
                      <a:r>
                        <a:rPr lang="en-US" sz="2000" b="1" dirty="0">
                          <a:solidFill>
                            <a:srgbClr val="B23A2E"/>
                          </a:solidFill>
                        </a:rPr>
                        <a:t>ido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6A5F58"/>
                          </a:solidFill>
                        </a:rPr>
                        <a:t>vosotros/as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B23A2E"/>
                          </a:solidFill>
                        </a:rPr>
                        <a:t>habéis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523"/>
                          </a:solidFill>
                        </a:rPr>
                        <a:t>viv</a:t>
                      </a:r>
                      <a:r>
                        <a:rPr lang="en-US" sz="2000" b="1" dirty="0">
                          <a:solidFill>
                            <a:srgbClr val="B23A2E"/>
                          </a:solidFill>
                        </a:rPr>
                        <a:t>ido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6A5F58"/>
                          </a:solidFill>
                        </a:rPr>
                        <a:t>ellos / ellas / ustedes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B23A2E"/>
                          </a:solidFill>
                        </a:rPr>
                        <a:t>han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523"/>
                          </a:solidFill>
                        </a:rPr>
                        <a:t>viv</a:t>
                      </a:r>
                      <a:r>
                        <a:rPr lang="en-US" sz="2000" b="1" dirty="0">
                          <a:solidFill>
                            <a:srgbClr val="B23A2E"/>
                          </a:solidFill>
                        </a:rPr>
                        <a:t>ido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858000" y="457200"/>
            <a:ext cx="4782312" cy="5943600"/>
          </a:xfrm>
          <a:prstGeom prst="roundRect">
            <a:avLst>
              <a:gd name="adj" fmla="val 229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 txBox="1"/>
          <p:nvPr/>
        </p:nvSpPr>
        <p:spPr>
          <a:xfrm>
            <a:off x="7178040" y="7772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Más verbos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178040" y="1234440"/>
            <a:ext cx="4160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dormir → </a:t>
            </a:r>
            <a:r>
              <a:rPr lang="en-US" sz="2000" b="1" dirty="0">
                <a:solidFill>
                  <a:schemeClr val="accent1"/>
                </a:solidFill>
              </a:rPr>
              <a:t>dormido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salir → </a:t>
            </a:r>
            <a:r>
              <a:rPr lang="en-US" sz="2000" b="1" dirty="0">
                <a:solidFill>
                  <a:schemeClr val="accent1"/>
                </a:solidFill>
              </a:rPr>
              <a:t>salido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subir → </a:t>
            </a:r>
            <a:r>
              <a:rPr lang="en-US" sz="2000" b="1" dirty="0">
                <a:solidFill>
                  <a:schemeClr val="accent1"/>
                </a:solidFill>
              </a:rPr>
              <a:t>subido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venir → </a:t>
            </a:r>
            <a:r>
              <a:rPr lang="en-US" sz="2000" b="1" dirty="0">
                <a:solidFill>
                  <a:schemeClr val="accent1"/>
                </a:solidFill>
              </a:rPr>
              <a:t>venido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ir → </a:t>
            </a:r>
            <a:r>
              <a:rPr lang="en-US" sz="2000" b="1" dirty="0">
                <a:solidFill>
                  <a:schemeClr val="accent1"/>
                </a:solidFill>
              </a:rPr>
              <a:t>ido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178040" y="34747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Ejemplos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178040" y="393192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He </a:t>
            </a:r>
            <a:r>
              <a:rPr lang="en-US" sz="2000" b="1" dirty="0">
                <a:solidFill>
                  <a:schemeClr val="accent1"/>
                </a:solidFill>
              </a:rPr>
              <a:t>dormido</a:t>
            </a:r>
            <a:r>
              <a:rPr lang="en-US" sz="2000" dirty="0">
                <a:solidFill>
                  <a:schemeClr val="tx1"/>
                </a:solidFill>
              </a:rPr>
              <a:t> en un hostal.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Mis amigos han </a:t>
            </a:r>
            <a:r>
              <a:rPr lang="en-US" sz="2000" b="1" dirty="0">
                <a:solidFill>
                  <a:schemeClr val="accent1"/>
                </a:solidFill>
              </a:rPr>
              <a:t>venido</a:t>
            </a:r>
            <a:r>
              <a:rPr lang="en-US" sz="2000" dirty="0">
                <a:solidFill>
                  <a:schemeClr val="tx1"/>
                </a:solidFill>
              </a:rPr>
              <a:t> a casa.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Participios irregulares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Estos ocho no terminan en -ado ni en -ido. Se aprenden de memoria.</a:t>
            </a:r>
            <a:endParaRPr lang="en-US" sz="2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4443984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39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BF5EA"/>
                          </a:solidFill>
                        </a:rPr>
                        <a:t>Verbo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5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BF5EA"/>
                          </a:solidFill>
                        </a:rPr>
                        <a:t>Participio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5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BF5EA"/>
                          </a:solidFill>
                        </a:rPr>
                        <a:t>Ejemplo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5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dirty="0">
                          <a:solidFill>
                            <a:srgbClr val="6A5F58"/>
                          </a:solidFill>
                        </a:rPr>
                        <a:t>hacer</a:t>
                      </a:r>
                      <a:endParaRPr lang="en-US" sz="21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b="1" dirty="0">
                          <a:solidFill>
                            <a:srgbClr val="B23A2E"/>
                          </a:solidFill>
                        </a:rPr>
                        <a:t>hecho</a:t>
                      </a:r>
                      <a:endParaRPr lang="en-US" sz="21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dirty="0">
                          <a:solidFill>
                            <a:srgbClr val="2B2523"/>
                          </a:solidFill>
                        </a:rPr>
                        <a:t>¿Qué has hecho hoy?</a:t>
                      </a:r>
                      <a:endParaRPr lang="en-US" sz="21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dirty="0">
                          <a:solidFill>
                            <a:srgbClr val="6A5F58"/>
                          </a:solidFill>
                        </a:rPr>
                        <a:t>decir</a:t>
                      </a:r>
                      <a:endParaRPr lang="en-US" sz="21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b="1" dirty="0">
                          <a:solidFill>
                            <a:srgbClr val="B23A2E"/>
                          </a:solidFill>
                        </a:rPr>
                        <a:t>dicho</a:t>
                      </a:r>
                      <a:endParaRPr lang="en-US" sz="21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dirty="0">
                          <a:solidFill>
                            <a:srgbClr val="2B2523"/>
                          </a:solidFill>
                        </a:rPr>
                        <a:t>Me han dicho que sí.</a:t>
                      </a:r>
                      <a:endParaRPr lang="en-US" sz="21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dirty="0">
                          <a:solidFill>
                            <a:srgbClr val="6A5F58"/>
                          </a:solidFill>
                        </a:rPr>
                        <a:t>ver</a:t>
                      </a:r>
                      <a:endParaRPr lang="en-US" sz="21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b="1" dirty="0">
                          <a:solidFill>
                            <a:srgbClr val="B23A2E"/>
                          </a:solidFill>
                        </a:rPr>
                        <a:t>visto</a:t>
                      </a:r>
                      <a:endParaRPr lang="en-US" sz="21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dirty="0">
                          <a:solidFill>
                            <a:srgbClr val="2B2523"/>
                          </a:solidFill>
                        </a:rPr>
                        <a:t>He visto un partido.</a:t>
                      </a:r>
                      <a:endParaRPr lang="en-US" sz="21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dirty="0">
                          <a:solidFill>
                            <a:srgbClr val="6A5F58"/>
                          </a:solidFill>
                        </a:rPr>
                        <a:t>escribir</a:t>
                      </a:r>
                      <a:endParaRPr lang="en-US" sz="21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b="1" dirty="0">
                          <a:solidFill>
                            <a:srgbClr val="B23A2E"/>
                          </a:solidFill>
                        </a:rPr>
                        <a:t>escrito</a:t>
                      </a:r>
                      <a:endParaRPr lang="en-US" sz="21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dirty="0">
                          <a:solidFill>
                            <a:srgbClr val="2B2523"/>
                          </a:solidFill>
                        </a:rPr>
                        <a:t>He escrito una carta.</a:t>
                      </a:r>
                      <a:endParaRPr lang="en-US" sz="21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dirty="0">
                          <a:solidFill>
                            <a:srgbClr val="6A5F58"/>
                          </a:solidFill>
                        </a:rPr>
                        <a:t>poner</a:t>
                      </a:r>
                      <a:endParaRPr lang="en-US" sz="21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b="1" dirty="0">
                          <a:solidFill>
                            <a:srgbClr val="B23A2E"/>
                          </a:solidFill>
                        </a:rPr>
                        <a:t>puesto</a:t>
                      </a:r>
                      <a:endParaRPr lang="en-US" sz="21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dirty="0">
                          <a:solidFill>
                            <a:srgbClr val="2B2523"/>
                          </a:solidFill>
                        </a:rPr>
                        <a:t>He puesto la mesa.</a:t>
                      </a:r>
                      <a:endParaRPr lang="en-US" sz="21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dirty="0">
                          <a:solidFill>
                            <a:srgbClr val="6A5F58"/>
                          </a:solidFill>
                        </a:rPr>
                        <a:t>volver</a:t>
                      </a:r>
                      <a:endParaRPr lang="en-US" sz="21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b="1" dirty="0">
                          <a:solidFill>
                            <a:srgbClr val="B23A2E"/>
                          </a:solidFill>
                        </a:rPr>
                        <a:t>vuelto</a:t>
                      </a:r>
                      <a:endParaRPr lang="en-US" sz="21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dirty="0">
                          <a:solidFill>
                            <a:srgbClr val="2B2523"/>
                          </a:solidFill>
                        </a:rPr>
                        <a:t>Hemos vuelto tarde.</a:t>
                      </a:r>
                      <a:endParaRPr lang="en-US" sz="21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dirty="0">
                          <a:solidFill>
                            <a:srgbClr val="6A5F58"/>
                          </a:solidFill>
                        </a:rPr>
                        <a:t>abrir</a:t>
                      </a:r>
                      <a:endParaRPr lang="en-US" sz="21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b="1" dirty="0">
                          <a:solidFill>
                            <a:srgbClr val="B23A2E"/>
                          </a:solidFill>
                        </a:rPr>
                        <a:t>abierto</a:t>
                      </a:r>
                      <a:endParaRPr lang="en-US" sz="21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dirty="0">
                          <a:solidFill>
                            <a:srgbClr val="2B2523"/>
                          </a:solidFill>
                        </a:rPr>
                        <a:t>He abierto mi cuaderno.</a:t>
                      </a:r>
                      <a:endParaRPr lang="en-US" sz="21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dirty="0">
                          <a:solidFill>
                            <a:srgbClr val="6A5F58"/>
                          </a:solidFill>
                        </a:rPr>
                        <a:t>romper</a:t>
                      </a:r>
                      <a:endParaRPr lang="en-US" sz="21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b="1" dirty="0">
                          <a:solidFill>
                            <a:srgbClr val="B23A2E"/>
                          </a:solidFill>
                        </a:rPr>
                        <a:t>roto</a:t>
                      </a:r>
                      <a:endParaRPr lang="en-US" sz="21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dirty="0">
                          <a:solidFill>
                            <a:srgbClr val="2B2523"/>
                          </a:solidFill>
                        </a:rPr>
                        <a:t>He roto el celular.</a:t>
                      </a:r>
                      <a:endParaRPr lang="en-US" sz="21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Ojo: no es igual que en portugués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490472"/>
            <a:ext cx="11091672" cy="1042416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777240" y="16002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✘ </a:t>
            </a:r>
            <a:r>
              <a:rPr lang="en-US" sz="2000" strike="sngStrike" dirty="0">
                <a:solidFill>
                  <a:schemeClr val="tx2"/>
                </a:solidFill>
              </a:rPr>
              <a:t>Tengo comido.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206240" y="16002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✔ </a:t>
            </a:r>
            <a:r>
              <a:rPr lang="en-US" sz="2000" b="1" dirty="0">
                <a:solidFill>
                  <a:schemeClr val="tx1"/>
                </a:solidFill>
              </a:rPr>
              <a:t>He comido.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16002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2"/>
                </a:solidFill>
              </a:rPr>
              <a:t>El ayudante es </a:t>
            </a:r>
            <a:r>
              <a:rPr lang="en-US" sz="1700" i="1" dirty="0">
                <a:solidFill>
                  <a:schemeClr val="tx2"/>
                </a:solidFill>
              </a:rPr>
              <a:t>haber</a:t>
            </a:r>
            <a:r>
              <a:rPr lang="en-US" sz="1700" dirty="0">
                <a:solidFill>
                  <a:schemeClr val="tx2"/>
                </a:solidFill>
              </a:rPr>
              <a:t>, nunca </a:t>
            </a:r>
            <a:r>
              <a:rPr lang="en-US" sz="1700" i="1" dirty="0">
                <a:solidFill>
                  <a:schemeClr val="tx2"/>
                </a:solidFill>
              </a:rPr>
              <a:t>tener</a:t>
            </a:r>
            <a:r>
              <a:rPr lang="en-US" sz="1700" dirty="0">
                <a:solidFill>
                  <a:schemeClr val="tx2"/>
                </a:solidFill>
              </a:rPr>
              <a:t>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✘ </a:t>
            </a:r>
            <a:r>
              <a:rPr lang="en-US" sz="2000" strike="sngStrike" dirty="0">
                <a:solidFill>
                  <a:schemeClr val="tx2"/>
                </a:solidFill>
              </a:rPr>
              <a:t>He ya comido.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27889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✔ </a:t>
            </a:r>
            <a:r>
              <a:rPr lang="en-US" sz="2000" b="1" dirty="0">
                <a:solidFill>
                  <a:schemeClr val="tx1"/>
                </a:solidFill>
              </a:rPr>
              <a:t>Ya he comido.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27889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2"/>
                </a:solidFill>
              </a:rPr>
              <a:t>Nada entra entre </a:t>
            </a:r>
            <a:r>
              <a:rPr lang="en-US" sz="1700" i="1" dirty="0">
                <a:solidFill>
                  <a:schemeClr val="tx2"/>
                </a:solidFill>
              </a:rPr>
              <a:t>haber</a:t>
            </a:r>
            <a:r>
              <a:rPr lang="en-US" sz="1700" dirty="0">
                <a:solidFill>
                  <a:schemeClr val="tx2"/>
                </a:solidFill>
              </a:rPr>
              <a:t> y el participio.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3867912"/>
            <a:ext cx="11091672" cy="1042416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777240" y="39776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✘ </a:t>
            </a:r>
            <a:r>
              <a:rPr lang="en-US" sz="2000" strike="sngStrike" dirty="0">
                <a:solidFill>
                  <a:schemeClr val="tx2"/>
                </a:solidFill>
              </a:rPr>
              <a:t>Ella ha cantada.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39776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✔ </a:t>
            </a:r>
            <a:r>
              <a:rPr lang="en-US" sz="2000" b="1" dirty="0">
                <a:solidFill>
                  <a:schemeClr val="tx1"/>
                </a:solidFill>
              </a:rPr>
              <a:t>Ella ha cantado.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0" y="39776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2"/>
                </a:solidFill>
              </a:rPr>
              <a:t>El participio no cambia: siempre termina en -o.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51663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✘ </a:t>
            </a:r>
            <a:r>
              <a:rPr lang="en-US" sz="2000" strike="sngStrike" dirty="0">
                <a:solidFill>
                  <a:schemeClr val="tx2"/>
                </a:solidFill>
              </a:rPr>
              <a:t>He comido = tenho comido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51663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✔ </a:t>
            </a:r>
            <a:r>
              <a:rPr lang="en-US" sz="2000" b="1" dirty="0">
                <a:solidFill>
                  <a:schemeClr val="tx1"/>
                </a:solidFill>
              </a:rPr>
              <a:t>He comido = comi / já comi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51663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2"/>
                </a:solidFill>
              </a:rPr>
              <a:t>En portugués se traduce con el pasado simple.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He comido o comí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He comido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7744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hoy · esta mañana · esta semana · este año · alguna vez · nunca · ya · todavía no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2336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Este año </a:t>
            </a:r>
            <a:r>
              <a:rPr lang="en-US" sz="2200" b="1" dirty="0">
                <a:solidFill>
                  <a:schemeClr val="accent1"/>
                </a:solidFill>
              </a:rPr>
              <a:t>he corrido</a:t>
            </a:r>
            <a:r>
              <a:rPr lang="en-US" sz="2200" dirty="0">
                <a:solidFill>
                  <a:schemeClr val="tx1"/>
                </a:solidFill>
              </a:rPr>
              <a:t> diez kilómetros.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858000" y="1417320"/>
            <a:ext cx="4782312" cy="4983480"/>
          </a:xfrm>
          <a:prstGeom prst="roundRect">
            <a:avLst>
              <a:gd name="adj" fmla="val 229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7178040" y="160020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Comí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7178040" y="237744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ayer · la semana pasada · el año pasado · en 2019 · hace dos años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7178040" y="361188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El año pasado </a:t>
            </a:r>
            <a:r>
              <a:rPr lang="en-US" sz="2200" b="1" dirty="0">
                <a:solidFill>
                  <a:schemeClr val="accent1"/>
                </a:solidFill>
              </a:rPr>
              <a:t>aprendí</a:t>
            </a:r>
            <a:r>
              <a:rPr lang="en-US" sz="2200" dirty="0">
                <a:solidFill>
                  <a:schemeClr val="tx1"/>
                </a:solidFill>
              </a:rPr>
              <a:t> a nadar.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7178040" y="4663440"/>
            <a:ext cx="4160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En Argentina y en gran parte de América se dice más </a:t>
            </a:r>
            <a:r>
              <a:rPr lang="en-US" sz="1600" i="1" dirty="0">
                <a:solidFill>
                  <a:schemeClr val="tx2"/>
                </a:solidFill>
              </a:rPr>
              <a:t>comí</a:t>
            </a:r>
            <a:r>
              <a:rPr lang="en-US" sz="1600" dirty="0">
                <a:solidFill>
                  <a:schemeClr val="tx2"/>
                </a:solidFill>
              </a:rPr>
              <a:t>: «¿Alguna vez comiste sushi?». Las dos formas se entienden.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ker 40 cosas">
  <a:themeElements>
    <a:clrScheme name="Iker 40 cosas">
      <a:dk1>
        <a:srgbClr val="2B2523"/>
      </a:dk1>
      <a:lt1>
        <a:srgbClr val="FBF5EA"/>
      </a:lt1>
      <a:dk2>
        <a:srgbClr val="6A5F58"/>
      </a:dk2>
      <a:lt2>
        <a:srgbClr val="F1E6D3"/>
      </a:lt2>
      <a:accent1>
        <a:srgbClr val="B23A2E"/>
      </a:accent1>
      <a:accent2>
        <a:srgbClr val="8A2A21"/>
      </a:accent2>
      <a:accent3>
        <a:srgbClr val="E9A23B"/>
      </a:accent3>
      <a:accent4>
        <a:srgbClr val="F6E2CF"/>
      </a:accent4>
      <a:accent5>
        <a:srgbClr val="DDCFB8"/>
      </a:accent5>
      <a:accent6>
        <a:srgbClr val="2F7D4F"/>
      </a:accent6>
      <a:hlink>
        <a:srgbClr val="B23A2E"/>
      </a:hlink>
      <a:folHlink>
        <a:srgbClr val="8A2A21"/>
      </a:folHlink>
    </a:clrScheme>
    <a:fontScheme name="Iker 40 cosa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1053</Words>
  <Application>Microsoft Office PowerPoint</Application>
  <PresentationFormat>Widescreen</PresentationFormat>
  <Paragraphs>252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6" baseType="lpstr">
      <vt:lpstr>Arial</vt:lpstr>
      <vt:lpstr>Cambria</vt:lpstr>
      <vt:lpstr>Iker 40 cosas</vt:lpstr>
      <vt:lpstr>40 cosas antes de los 40</vt:lpstr>
      <vt:lpstr>Hoy vamos a…</vt:lpstr>
      <vt:lpstr>¿Qué cambió?</vt:lpstr>
      <vt:lpstr>Íker Etxeberria</vt:lpstr>
      <vt:lpstr>Lo que dice Íker</vt:lpstr>
      <vt:lpstr>Cómo funciona</vt:lpstr>
      <vt:lpstr>El verbo haber</vt:lpstr>
      <vt:lpstr>Verbos en -AR</vt:lpstr>
      <vt:lpstr>Verbos en -ER</vt:lpstr>
      <vt:lpstr>Verbos en -IR</vt:lpstr>
      <vt:lpstr>Participios irregulares</vt:lpstr>
      <vt:lpstr>Ojo: no es igual que en portugués</vt:lpstr>
      <vt:lpstr>He comido o comí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40 cosas antes de los 40 · Pretérito perfecto compuesto</dc:title>
  <dc:subject>PptxGenJS Presentation</dc:subject>
  <dc:creator>Juani</dc:creator>
  <cp:lastModifiedBy>Juan Antonio Morales</cp:lastModifiedBy>
  <cp:revision>2</cp:revision>
  <dcterms:created xsi:type="dcterms:W3CDTF">2026-10-10T13:03:45Z</dcterms:created>
  <dcterms:modified xsi:type="dcterms:W3CDTF">2026-10-10T13:06:49Z</dcterms:modified>
</cp:coreProperties>
</file>