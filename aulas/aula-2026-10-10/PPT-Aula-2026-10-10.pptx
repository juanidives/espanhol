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paso" id="{3A996DEF-A29D-5709-BC8C-B37D188CBF6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833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"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Español A1 · sábado 10 de octubre de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Los tres pasados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comí</a:t>
            </a:r>
            <a:r>
              <a:rPr lang="en-US" sz="2800" dirty="0">
                <a:solidFill>
                  <a:schemeClr val="tx1"/>
                </a:solidFill>
              </a:rPr>
              <a:t>  ·  </a:t>
            </a:r>
            <a:r>
              <a:rPr lang="en-US" sz="2800" b="1" dirty="0">
                <a:solidFill>
                  <a:schemeClr val="accent2"/>
                </a:solidFill>
              </a:rPr>
              <a:t>comía</a:t>
            </a:r>
            <a:r>
              <a:rPr lang="en-US" sz="2800" dirty="0">
                <a:solidFill>
                  <a:schemeClr val="tx1"/>
                </a:solidFill>
              </a:rPr>
              <a:t>  ·  </a:t>
            </a:r>
            <a:r>
              <a:rPr lang="en-US" sz="2800" b="1" dirty="0">
                <a:solidFill>
                  <a:schemeClr val="accent3"/>
                </a:solidFill>
              </a:rPr>
              <a:t>he comido</a:t>
            </a:r>
            <a:endParaRPr lang="en-US" sz="2800" dirty="0"/>
          </a:p>
        </p:txBody>
      </p:sp>
      <p:sp>
        <p:nvSpPr>
          <p:cNvPr id="5" name="QR celular tarjeta"/>
          <p:cNvSpPr/>
          <p:nvPr/>
        </p:nvSpPr>
        <p:spPr>
          <a:xfrm>
            <a:off x="548640" y="3794760"/>
            <a:ext cx="2286000" cy="2286000"/>
          </a:xfrm>
          <a:prstGeom prst="roundRect">
            <a:avLst>
              <a:gd name="adj" fmla="val 7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QR celular" descr="Código QR: abre la clase en tu celul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063240" y="4480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Abre la clase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en tu celular</a:t>
            </a:r>
            <a:endParaRPr lang="en-US" sz="2200" dirty="0"/>
          </a:p>
        </p:txBody>
      </p:sp>
      <p:pic>
        <p:nvPicPr>
          <p:cNvPr id="8" name="Lucía" descr="Lucí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914400"/>
            <a:ext cx="2514600" cy="3143250"/>
          </a:xfrm>
          <a:prstGeom prst="rect">
            <a:avLst/>
          </a:prstGeom>
        </p:spPr>
      </p:pic>
      <p:pic>
        <p:nvPicPr>
          <p:cNvPr id="9" name="Íker" descr="Ík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914400"/>
            <a:ext cx="2514600" cy="314325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583680" y="4206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Lucía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9281160" y="4206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Íker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Cambia el marcador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comer arroz</a:t>
            </a:r>
            <a:endParaRPr lang="en-US" sz="2200" dirty="0"/>
          </a:p>
        </p:txBody>
      </p:sp>
      <p:sp>
        <p:nvSpPr>
          <p:cNvPr id="4" name="Marcadores 1"/>
          <p:cNvSpPr/>
          <p:nvPr/>
        </p:nvSpPr>
        <p:spPr>
          <a:xfrm>
            <a:off x="548640" y="2011680"/>
            <a:ext cx="5394960" cy="4114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Marcadores 2"/>
          <p:cNvSpPr/>
          <p:nvPr/>
        </p:nvSpPr>
        <p:spPr>
          <a:xfrm>
            <a:off x="6217920" y="2011680"/>
            <a:ext cx="5394960" cy="4114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Hoy </a:t>
            </a:r>
            <a:r>
              <a:rPr lang="en-US" sz="2600" b="1" dirty="0">
                <a:solidFill>
                  <a:schemeClr val="accent3"/>
                </a:solidFill>
              </a:rPr>
              <a:t>he comido</a:t>
            </a:r>
            <a:r>
              <a:rPr lang="en-US" sz="2600" dirty="0">
                <a:solidFill>
                  <a:schemeClr val="tx1"/>
                </a:solidFill>
              </a:rPr>
              <a:t> arroz.</a:t>
            </a:r>
            <a:endParaRPr lang="en-US" sz="26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Ayer </a:t>
            </a:r>
            <a:r>
              <a:rPr lang="en-US" sz="2600" b="1" dirty="0">
                <a:solidFill>
                  <a:schemeClr val="accent1"/>
                </a:solidFill>
              </a:rPr>
              <a:t>comí</a:t>
            </a:r>
            <a:r>
              <a:rPr lang="en-US" sz="2600" dirty="0">
                <a:solidFill>
                  <a:schemeClr val="tx1"/>
                </a:solidFill>
              </a:rPr>
              <a:t> arroz.</a:t>
            </a:r>
            <a:endParaRPr lang="en-US" sz="26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De niño/a </a:t>
            </a:r>
            <a:r>
              <a:rPr lang="en-US" sz="2600" b="1" dirty="0">
                <a:solidFill>
                  <a:schemeClr val="accent2"/>
                </a:solidFill>
              </a:rPr>
              <a:t>comía</a:t>
            </a:r>
            <a:r>
              <a:rPr lang="en-US" sz="2600" dirty="0">
                <a:solidFill>
                  <a:schemeClr val="tx1"/>
                </a:solidFill>
              </a:rPr>
              <a:t> arroz.</a:t>
            </a:r>
            <a:endParaRPr lang="en-US" sz="26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Esta semana </a:t>
            </a:r>
            <a:r>
              <a:rPr lang="en-US" sz="2600" b="1" dirty="0">
                <a:solidFill>
                  <a:schemeClr val="accent3"/>
                </a:solidFill>
              </a:rPr>
              <a:t>he comido</a:t>
            </a:r>
            <a:r>
              <a:rPr lang="en-US" sz="2600" dirty="0">
                <a:solidFill>
                  <a:schemeClr val="tx1"/>
                </a:solidFill>
              </a:rPr>
              <a:t> arroz.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224028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El año pasado </a:t>
            </a:r>
            <a:r>
              <a:rPr lang="en-US" sz="2600" b="1" dirty="0">
                <a:solidFill>
                  <a:schemeClr val="accent1"/>
                </a:solidFill>
              </a:rPr>
              <a:t>comí</a:t>
            </a:r>
            <a:r>
              <a:rPr lang="en-US" sz="2600" dirty="0">
                <a:solidFill>
                  <a:schemeClr val="tx1"/>
                </a:solidFill>
              </a:rPr>
              <a:t> arroz.</a:t>
            </a:r>
            <a:endParaRPr lang="en-US" sz="26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Antes </a:t>
            </a:r>
            <a:r>
              <a:rPr lang="en-US" sz="2600" b="1" dirty="0">
                <a:solidFill>
                  <a:schemeClr val="accent2"/>
                </a:solidFill>
              </a:rPr>
              <a:t>comía</a:t>
            </a:r>
            <a:r>
              <a:rPr lang="en-US" sz="2600" dirty="0">
                <a:solidFill>
                  <a:schemeClr val="tx1"/>
                </a:solidFill>
              </a:rPr>
              <a:t> arroz.</a:t>
            </a:r>
            <a:endParaRPr lang="en-US" sz="26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Nunca </a:t>
            </a:r>
            <a:r>
              <a:rPr lang="en-US" sz="2600" b="1" dirty="0">
                <a:solidFill>
                  <a:schemeClr val="accent3"/>
                </a:solidFill>
              </a:rPr>
              <a:t>he comido</a:t>
            </a:r>
            <a:r>
              <a:rPr lang="en-US" sz="2600" dirty="0">
                <a:solidFill>
                  <a:schemeClr val="tx1"/>
                </a:solidFill>
              </a:rPr>
              <a:t> arroz.</a:t>
            </a:r>
            <a:endParaRPr lang="en-US" sz="26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En 2020 </a:t>
            </a:r>
            <a:r>
              <a:rPr lang="en-US" sz="2600" b="1" dirty="0">
                <a:solidFill>
                  <a:schemeClr val="accent1"/>
                </a:solidFill>
              </a:rPr>
              <a:t>comí</a:t>
            </a:r>
            <a:r>
              <a:rPr lang="en-US" sz="2600" dirty="0">
                <a:solidFill>
                  <a:schemeClr val="tx1"/>
                </a:solidFill>
              </a:rPr>
              <a:t> arroz.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Tres preguntas</a:t>
            </a:r>
            <a:endParaRPr lang="en-US" sz="3400" dirty="0"/>
          </a:p>
        </p:txBody>
      </p:sp>
      <p:sp>
        <p:nvSpPr>
          <p:cNvPr id="3" name="Pregunta 1"/>
          <p:cNvSpPr/>
          <p:nvPr/>
        </p:nvSpPr>
        <p:spPr>
          <a:xfrm>
            <a:off x="548640" y="1554480"/>
            <a:ext cx="3520440" cy="4572000"/>
          </a:xfrm>
          <a:prstGeom prst="roundRect">
            <a:avLst>
              <a:gd name="adj" fmla="val 467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68680" y="1737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788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¿Tiene fecha y terminó?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comí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754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ayer · en 2019 · el año pasado · ese día</a:t>
            </a:r>
            <a:endParaRPr lang="en-US" sz="1700" dirty="0"/>
          </a:p>
        </p:txBody>
      </p:sp>
      <p:sp>
        <p:nvSpPr>
          <p:cNvPr id="8" name="Pregunta 2"/>
          <p:cNvSpPr/>
          <p:nvPr/>
        </p:nvSpPr>
        <p:spPr>
          <a:xfrm>
            <a:off x="4315968" y="1554480"/>
            <a:ext cx="3520440" cy="4572000"/>
          </a:xfrm>
          <a:prstGeom prst="roundRect">
            <a:avLst>
              <a:gd name="adj" fmla="val 467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636008" y="1737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788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¿Es el escenario o una costumbre?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comía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4754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de niño · antes · siempre · mientras</a:t>
            </a:r>
            <a:endParaRPr lang="en-US" sz="1700" dirty="0"/>
          </a:p>
        </p:txBody>
      </p:sp>
      <p:sp>
        <p:nvSpPr>
          <p:cNvPr id="13" name="Pregunta 3"/>
          <p:cNvSpPr/>
          <p:nvPr/>
        </p:nvSpPr>
        <p:spPr>
          <a:xfrm>
            <a:off x="8083296" y="1554480"/>
            <a:ext cx="3520440" cy="4572000"/>
          </a:xfrm>
          <a:prstGeom prst="roundRect">
            <a:avLst>
              <a:gd name="adj" fmla="val 467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8403336" y="1737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403336" y="2788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¿Toca el presente o no tiene fecha?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03336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he comido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4754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hoy · esta semana · alguna vez · nunca · ya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ucía" descr="Lucí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017520" cy="3771900"/>
          </a:xfrm>
          <a:prstGeom prst="rect">
            <a:avLst/>
          </a:prstGeom>
        </p:spPr>
      </p:pic>
      <p:pic>
        <p:nvPicPr>
          <p:cNvPr id="3" name="Íker" descr="Ík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1097280"/>
            <a:ext cx="3017520" cy="37719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Lucía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8531352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Íker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3931920" y="1828800"/>
            <a:ext cx="4343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 encuentro inesperado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3931920" y="393192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tx1"/>
                </a:solidFill>
              </a:rPr>
              <a:t>Lucía e Íker se conocen en un café.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¿1, 2 o 3?</a:t>
            </a:r>
            <a:endParaRPr lang="en-US" sz="3400" dirty="0"/>
          </a:p>
        </p:txBody>
      </p:sp>
      <p:graphicFrame>
        <p:nvGraphicFramePr>
          <p:cNvPr id="6" name="Frases clav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535424"/>
        </p:xfrm>
        <a:graphic>
          <a:graphicData uri="http://schemas.openxmlformats.org/drawingml/2006/table">
            <a:tbl>
              <a:tblPr/>
              <a:tblGrid>
                <a:gridCol w="859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El año pasado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viajé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sola a Cusco.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1 · comí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En 2023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compré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esta cámara azul.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1 · comí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Hacía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frío y </a:t>
                      </a: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había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mucha gente en las calles.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2 · comía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¿</a:t>
                      </a: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Has dibujado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alguna vez a alguien con una cámara?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3 · he comido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Ese día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dibujé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a un chico en la plaza.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1 · comí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Mi chaqueta </a:t>
                      </a: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era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roja.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2 · comía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Este año </a:t>
                      </a: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he recuperado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mi cuaderno.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3 · he comido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Nunca </a:t>
                      </a: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he visto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un dibujo mío.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3 · he comido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Un encuentro inesperado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94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Íker: </a:t>
            </a:r>
            <a:r>
              <a:rPr lang="en-US" sz="1900" dirty="0">
                <a:solidFill>
                  <a:schemeClr val="tx1"/>
                </a:solidFill>
              </a:rPr>
              <a:t>Perdona, ¿ese dibujo es de Cusco? Soy Íker, de Bilbao. Soy fotógrafo de viajes.</a:t>
            </a:r>
            <a:endParaRPr lang="en-US" sz="1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Lucía: </a:t>
            </a:r>
            <a:r>
              <a:rPr lang="en-US" sz="1900" dirty="0">
                <a:solidFill>
                  <a:schemeClr val="tx1"/>
                </a:solidFill>
              </a:rPr>
              <a:t>¡Sí! Soy Lucía, de Costa Rica. El año pasado </a:t>
            </a:r>
            <a:r>
              <a:rPr lang="en-US" sz="1900" b="1" dirty="0">
                <a:solidFill>
                  <a:schemeClr val="accent1"/>
                </a:solidFill>
              </a:rPr>
              <a:t>viajé</a:t>
            </a:r>
            <a:r>
              <a:rPr lang="en-US" sz="1900" dirty="0">
                <a:solidFill>
                  <a:schemeClr val="tx1"/>
                </a:solidFill>
              </a:rPr>
              <a:t> sola a Cusco.</a:t>
            </a:r>
            <a:endParaRPr lang="en-US" sz="1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Íker: </a:t>
            </a:r>
            <a:r>
              <a:rPr lang="en-US" sz="1900" dirty="0">
                <a:solidFill>
                  <a:schemeClr val="tx1"/>
                </a:solidFill>
              </a:rPr>
              <a:t>¡Qué casualidad! En 2023 </a:t>
            </a:r>
            <a:r>
              <a:rPr lang="en-US" sz="1900" b="1" dirty="0">
                <a:solidFill>
                  <a:schemeClr val="accent1"/>
                </a:solidFill>
              </a:rPr>
              <a:t>compré</a:t>
            </a:r>
            <a:r>
              <a:rPr lang="en-US" sz="1900" dirty="0">
                <a:solidFill>
                  <a:schemeClr val="tx1"/>
                </a:solidFill>
              </a:rPr>
              <a:t> esta cámara azul. ¡Me encanta Perú!</a:t>
            </a:r>
            <a:endParaRPr lang="en-US" sz="1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Lucía: </a:t>
            </a:r>
            <a:r>
              <a:rPr lang="en-US" sz="1900" dirty="0">
                <a:solidFill>
                  <a:schemeClr val="tx1"/>
                </a:solidFill>
              </a:rPr>
              <a:t>¡A mí también! </a:t>
            </a:r>
            <a:r>
              <a:rPr lang="en-US" sz="1900" b="1" dirty="0">
                <a:solidFill>
                  <a:schemeClr val="accent2"/>
                </a:solidFill>
              </a:rPr>
              <a:t>Hacía</a:t>
            </a:r>
            <a:r>
              <a:rPr lang="en-US" sz="1900" dirty="0">
                <a:solidFill>
                  <a:schemeClr val="tx1"/>
                </a:solidFill>
              </a:rPr>
              <a:t> frío y </a:t>
            </a:r>
            <a:r>
              <a:rPr lang="en-US" sz="1900" b="1" dirty="0">
                <a:solidFill>
                  <a:schemeClr val="accent2"/>
                </a:solidFill>
              </a:rPr>
              <a:t>había</a:t>
            </a:r>
            <a:r>
              <a:rPr lang="en-US" sz="1900" dirty="0">
                <a:solidFill>
                  <a:schemeClr val="tx1"/>
                </a:solidFill>
              </a:rPr>
              <a:t> mucha gente en las calles.</a:t>
            </a:r>
            <a:endParaRPr lang="en-US" sz="1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Íker: </a:t>
            </a:r>
            <a:r>
              <a:rPr lang="en-US" sz="1900" dirty="0">
                <a:solidFill>
                  <a:schemeClr val="tx1"/>
                </a:solidFill>
              </a:rPr>
              <a:t>¿</a:t>
            </a:r>
            <a:r>
              <a:rPr lang="en-US" sz="1900" b="1" dirty="0">
                <a:solidFill>
                  <a:schemeClr val="accent3"/>
                </a:solidFill>
              </a:rPr>
              <a:t>Has dibujado</a:t>
            </a:r>
            <a:r>
              <a:rPr lang="en-US" sz="1900" dirty="0">
                <a:solidFill>
                  <a:schemeClr val="tx1"/>
                </a:solidFill>
              </a:rPr>
              <a:t> alguna vez a alguien con una cámara?</a:t>
            </a:r>
            <a:endParaRPr lang="en-US" sz="1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Lucía: </a:t>
            </a:r>
            <a:r>
              <a:rPr lang="en-US" sz="1900" dirty="0">
                <a:solidFill>
                  <a:schemeClr val="tx1"/>
                </a:solidFill>
              </a:rPr>
              <a:t>¡Claro! Ese día </a:t>
            </a:r>
            <a:r>
              <a:rPr lang="en-US" sz="1900" b="1" dirty="0">
                <a:solidFill>
                  <a:schemeClr val="accent1"/>
                </a:solidFill>
              </a:rPr>
              <a:t>dibujé</a:t>
            </a:r>
            <a:r>
              <a:rPr lang="en-US" sz="1900" dirty="0">
                <a:solidFill>
                  <a:schemeClr val="tx1"/>
                </a:solidFill>
              </a:rPr>
              <a:t> a un chico en la plaza. ¡Mirá!</a:t>
            </a:r>
            <a:endParaRPr lang="en-US" sz="1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Íker: </a:t>
            </a:r>
            <a:r>
              <a:rPr lang="en-US" sz="1900" dirty="0">
                <a:solidFill>
                  <a:schemeClr val="tx1"/>
                </a:solidFill>
              </a:rPr>
              <a:t>Vale... ¡Un momento! Mi chaqueta </a:t>
            </a:r>
            <a:r>
              <a:rPr lang="en-US" sz="1900" b="1" dirty="0">
                <a:solidFill>
                  <a:schemeClr val="accent2"/>
                </a:solidFill>
              </a:rPr>
              <a:t>era</a:t>
            </a:r>
            <a:r>
              <a:rPr lang="en-US" sz="1900" dirty="0">
                <a:solidFill>
                  <a:schemeClr val="tx1"/>
                </a:solidFill>
              </a:rPr>
              <a:t> roja y yo </a:t>
            </a:r>
            <a:r>
              <a:rPr lang="en-US" sz="1900" b="1" dirty="0">
                <a:solidFill>
                  <a:schemeClr val="accent2"/>
                </a:solidFill>
              </a:rPr>
              <a:t>estaba</a:t>
            </a:r>
            <a:r>
              <a:rPr lang="en-US" sz="1900" dirty="0">
                <a:solidFill>
                  <a:schemeClr val="tx1"/>
                </a:solidFill>
              </a:rPr>
              <a:t> en esa plaza el año pasado.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263640" y="1463040"/>
            <a:ext cx="5394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Lucía: </a:t>
            </a:r>
            <a:r>
              <a:rPr lang="en-US" sz="1900" dirty="0">
                <a:solidFill>
                  <a:schemeClr val="tx1"/>
                </a:solidFill>
              </a:rPr>
              <a:t>¡Diay! Este año </a:t>
            </a:r>
            <a:r>
              <a:rPr lang="en-US" sz="1900" b="1" dirty="0">
                <a:solidFill>
                  <a:schemeClr val="accent3"/>
                </a:solidFill>
              </a:rPr>
              <a:t>he recuperado</a:t>
            </a:r>
            <a:r>
              <a:rPr lang="en-US" sz="1900" dirty="0">
                <a:solidFill>
                  <a:schemeClr val="tx1"/>
                </a:solidFill>
              </a:rPr>
              <a:t> mi cuaderno del albergue. Aquí está el dibujo.</a:t>
            </a:r>
            <a:endParaRPr lang="en-US" sz="1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Íker: </a:t>
            </a:r>
            <a:r>
              <a:rPr lang="en-US" sz="1900" dirty="0">
                <a:solidFill>
                  <a:schemeClr val="tx1"/>
                </a:solidFill>
              </a:rPr>
              <a:t>¡Anda, si soy yo! Nunca </a:t>
            </a:r>
            <a:r>
              <a:rPr lang="en-US" sz="1900" b="1" dirty="0">
                <a:solidFill>
                  <a:schemeClr val="accent3"/>
                </a:solidFill>
              </a:rPr>
              <a:t>he visto</a:t>
            </a:r>
            <a:r>
              <a:rPr lang="en-US" sz="1900" dirty="0">
                <a:solidFill>
                  <a:schemeClr val="tx1"/>
                </a:solidFill>
              </a:rPr>
              <a:t> un dibujo mío.</a:t>
            </a:r>
            <a:endParaRPr lang="en-US" sz="1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Lucía: </a:t>
            </a:r>
            <a:r>
              <a:rPr lang="en-US" sz="1900" dirty="0">
                <a:solidFill>
                  <a:schemeClr val="tx1"/>
                </a:solidFill>
              </a:rPr>
              <a:t>¿En serio? ¿Tienes fotos de aquel viaje?</a:t>
            </a:r>
            <a:endParaRPr lang="en-US" sz="1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Íker: </a:t>
            </a:r>
            <a:r>
              <a:rPr lang="en-US" sz="1900" dirty="0">
                <a:solidFill>
                  <a:schemeClr val="tx1"/>
                </a:solidFill>
              </a:rPr>
              <a:t>Sí. El año pasado </a:t>
            </a:r>
            <a:r>
              <a:rPr lang="en-US" sz="1900" b="1" dirty="0">
                <a:solidFill>
                  <a:schemeClr val="accent1"/>
                </a:solidFill>
              </a:rPr>
              <a:t>saqué</a:t>
            </a:r>
            <a:r>
              <a:rPr lang="en-US" sz="1900" dirty="0">
                <a:solidFill>
                  <a:schemeClr val="tx1"/>
                </a:solidFill>
              </a:rPr>
              <a:t> una foto de una chica con un cuaderno. ¡Mira!</a:t>
            </a:r>
            <a:endParaRPr lang="en-US" sz="1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Lucía: </a:t>
            </a:r>
            <a:r>
              <a:rPr lang="en-US" sz="1900" dirty="0">
                <a:solidFill>
                  <a:schemeClr val="tx1"/>
                </a:solidFill>
              </a:rPr>
              <a:t>¡Soy yo! ¡Ya </a:t>
            </a:r>
            <a:r>
              <a:rPr lang="en-US" sz="1900" b="1" dirty="0">
                <a:solidFill>
                  <a:schemeClr val="accent3"/>
                </a:solidFill>
              </a:rPr>
              <a:t>he encontrado</a:t>
            </a:r>
            <a:r>
              <a:rPr lang="en-US" sz="1900" dirty="0">
                <a:solidFill>
                  <a:schemeClr val="tx1"/>
                </a:solidFill>
              </a:rPr>
              <a:t> al chico de mi dibujo!</a:t>
            </a:r>
            <a:endParaRPr lang="en-US" sz="1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Íker: </a:t>
            </a:r>
            <a:r>
              <a:rPr lang="en-US" sz="1900" dirty="0">
                <a:solidFill>
                  <a:schemeClr val="tx1"/>
                </a:solidFill>
              </a:rPr>
              <a:t>¡Qué bueno! Tengo una idea para mi lista de cuarenta cosas: hacer un libro con tus dibujos y mis fotos.</a:t>
            </a:r>
            <a:endParaRPr lang="en-US" sz="19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Lucía: </a:t>
            </a:r>
            <a:r>
              <a:rPr lang="en-US" sz="1900" dirty="0">
                <a:solidFill>
                  <a:schemeClr val="tx1"/>
                </a:solidFill>
              </a:rPr>
              <a:t>¡Pura vida! Bueno... primero tomamos un café. ¿Te parece?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Mitades</a:t>
            </a:r>
            <a:endParaRPr lang="en-US" sz="3400" dirty="0"/>
          </a:p>
        </p:txBody>
      </p:sp>
      <p:sp>
        <p:nvSpPr>
          <p:cNvPr id="3" name="QR alumno A tarjeta"/>
          <p:cNvSpPr/>
          <p:nvPr/>
        </p:nvSpPr>
        <p:spPr>
          <a:xfrm>
            <a:off x="2377440" y="1463040"/>
            <a:ext cx="3383280" cy="393192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QR alumno A" descr="Código QR: Alumno 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645920"/>
            <a:ext cx="3017520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468880" y="4709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Alumno A</a:t>
            </a:r>
            <a:endParaRPr lang="en-US" sz="1800" dirty="0"/>
          </a:p>
        </p:txBody>
      </p:sp>
      <p:sp>
        <p:nvSpPr>
          <p:cNvPr id="6" name="QR alumno B tarjeta"/>
          <p:cNvSpPr/>
          <p:nvPr/>
        </p:nvSpPr>
        <p:spPr>
          <a:xfrm>
            <a:off x="6446520" y="1463040"/>
            <a:ext cx="3383280" cy="393192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QR alumno B" descr="Código QR: Alumno 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645920"/>
            <a:ext cx="3017520" cy="3017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37960" y="4709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Alumno B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A empieza la frase. B la termina.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Así se une</a:t>
            </a:r>
            <a:endParaRPr lang="en-US" sz="3400" dirty="0"/>
          </a:p>
        </p:txBody>
      </p:sp>
      <p:sp>
        <p:nvSpPr>
          <p:cNvPr id="3" name="Modelo 1"/>
          <p:cNvSpPr/>
          <p:nvPr/>
        </p:nvSpPr>
        <p:spPr>
          <a:xfrm>
            <a:off x="548640" y="1828800"/>
            <a:ext cx="11064240" cy="16459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Hacía</a:t>
            </a:r>
            <a:r>
              <a:rPr lang="en-US" sz="3400" dirty="0">
                <a:solidFill>
                  <a:schemeClr val="tx1"/>
                </a:solidFill>
              </a:rPr>
              <a:t> calor, </a:t>
            </a:r>
            <a:r>
              <a:rPr lang="en-US" sz="3400" b="1" u="sng" dirty="0">
                <a:solidFill>
                  <a:schemeClr val="tx1"/>
                </a:solidFill>
              </a:rPr>
              <a:t>por eso</a:t>
            </a:r>
            <a:r>
              <a:rPr lang="en-US" sz="3400" dirty="0">
                <a:solidFill>
                  <a:schemeClr val="tx1"/>
                </a:solidFill>
              </a:rPr>
              <a:t> </a:t>
            </a:r>
            <a:r>
              <a:rPr lang="en-US" sz="3400" b="1" dirty="0">
                <a:solidFill>
                  <a:schemeClr val="accent1"/>
                </a:solidFill>
              </a:rPr>
              <a:t>abrió</a:t>
            </a:r>
            <a:r>
              <a:rPr lang="en-US" sz="3400" dirty="0">
                <a:solidFill>
                  <a:schemeClr val="tx1"/>
                </a:solidFill>
              </a:rPr>
              <a:t> la ventana.</a:t>
            </a:r>
            <a:endParaRPr lang="en-US" sz="3400" dirty="0"/>
          </a:p>
        </p:txBody>
      </p:sp>
      <p:sp>
        <p:nvSpPr>
          <p:cNvPr id="5" name="Modelo 2"/>
          <p:cNvSpPr/>
          <p:nvPr/>
        </p:nvSpPr>
        <p:spPr>
          <a:xfrm>
            <a:off x="548640" y="3931920"/>
            <a:ext cx="11064240" cy="16459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914400" y="393192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Dormía</a:t>
            </a:r>
            <a:r>
              <a:rPr lang="en-US" sz="3400" dirty="0">
                <a:solidFill>
                  <a:schemeClr val="tx1"/>
                </a:solidFill>
              </a:rPr>
              <a:t> </a:t>
            </a:r>
            <a:r>
              <a:rPr lang="en-US" sz="3400" b="1" u="sng" dirty="0">
                <a:solidFill>
                  <a:schemeClr val="tx1"/>
                </a:solidFill>
              </a:rPr>
              <a:t>cuando</a:t>
            </a:r>
            <a:r>
              <a:rPr lang="en-US" sz="3400" dirty="0">
                <a:solidFill>
                  <a:schemeClr val="tx1"/>
                </a:solidFill>
              </a:rPr>
              <a:t> </a:t>
            </a:r>
            <a:r>
              <a:rPr lang="en-US" sz="3400" b="1" dirty="0">
                <a:solidFill>
                  <a:schemeClr val="accent1"/>
                </a:solidFill>
              </a:rPr>
              <a:t>sonó</a:t>
            </a:r>
            <a:r>
              <a:rPr lang="en-US" sz="3400" dirty="0">
                <a:solidFill>
                  <a:schemeClr val="tx1"/>
                </a:solidFill>
              </a:rPr>
              <a:t> el teléfono.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El viaje de Lucía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2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Llovía</a:t>
            </a:r>
            <a:r>
              <a:rPr lang="en-US" sz="2800" dirty="0">
                <a:solidFill>
                  <a:schemeClr val="tx1"/>
                </a:solidFill>
              </a:rPr>
              <a:t> mucho, </a:t>
            </a:r>
            <a:r>
              <a:rPr lang="en-US" sz="2800" b="1" u="sng" dirty="0">
                <a:solidFill>
                  <a:schemeClr val="tx1"/>
                </a:solidFill>
              </a:rPr>
              <a:t>por eso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accent1"/>
                </a:solidFill>
              </a:rPr>
              <a:t>compró</a:t>
            </a:r>
            <a:r>
              <a:rPr lang="en-US" sz="2800" dirty="0">
                <a:solidFill>
                  <a:schemeClr val="tx1"/>
                </a:solidFill>
              </a:rPr>
              <a:t> un paraguas.</a:t>
            </a:r>
            <a:endParaRPr lang="en-US" sz="2800" dirty="0"/>
          </a:p>
          <a:p>
            <a:pPr marL="0" indent="0">
              <a:spcAft>
                <a:spcPts val="22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Tenía</a:t>
            </a:r>
            <a:r>
              <a:rPr lang="en-US" sz="2800" dirty="0">
                <a:solidFill>
                  <a:schemeClr val="tx1"/>
                </a:solidFill>
              </a:rPr>
              <a:t> mucha hambre, </a:t>
            </a:r>
            <a:r>
              <a:rPr lang="en-US" sz="2800" b="1" u="sng" dirty="0">
                <a:solidFill>
                  <a:schemeClr val="tx1"/>
                </a:solidFill>
              </a:rPr>
              <a:t>por eso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accent1"/>
                </a:solidFill>
              </a:rPr>
              <a:t>comió</a:t>
            </a:r>
            <a:r>
              <a:rPr lang="en-US" sz="2800" dirty="0">
                <a:solidFill>
                  <a:schemeClr val="tx1"/>
                </a:solidFill>
              </a:rPr>
              <a:t> un ceviche.</a:t>
            </a:r>
            <a:endParaRPr lang="en-US" sz="2800" dirty="0"/>
          </a:p>
          <a:p>
            <a:pPr marL="0" indent="0">
              <a:spcAft>
                <a:spcPts val="22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Estaba</a:t>
            </a:r>
            <a:r>
              <a:rPr lang="en-US" sz="2800" dirty="0">
                <a:solidFill>
                  <a:schemeClr val="tx1"/>
                </a:solidFill>
              </a:rPr>
              <a:t> muy cansada, </a:t>
            </a:r>
            <a:r>
              <a:rPr lang="en-US" sz="2800" b="1" u="sng" dirty="0">
                <a:solidFill>
                  <a:schemeClr val="tx1"/>
                </a:solidFill>
              </a:rPr>
              <a:t>por eso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accent1"/>
                </a:solidFill>
              </a:rPr>
              <a:t>se durmió</a:t>
            </a:r>
            <a:r>
              <a:rPr lang="en-US" sz="2800" dirty="0">
                <a:solidFill>
                  <a:schemeClr val="tx1"/>
                </a:solidFill>
              </a:rPr>
              <a:t> en el autobús.</a:t>
            </a:r>
            <a:endParaRPr lang="en-US" sz="2800" dirty="0"/>
          </a:p>
          <a:p>
            <a:pPr marL="0" indent="0">
              <a:spcAft>
                <a:spcPts val="22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Caminaba</a:t>
            </a:r>
            <a:r>
              <a:rPr lang="en-US" sz="2800" dirty="0">
                <a:solidFill>
                  <a:schemeClr val="tx1"/>
                </a:solidFill>
              </a:rPr>
              <a:t> por el mercado </a:t>
            </a:r>
            <a:r>
              <a:rPr lang="en-US" sz="2800" b="1" u="sng" dirty="0">
                <a:solidFill>
                  <a:schemeClr val="tx1"/>
                </a:solidFill>
              </a:rPr>
              <a:t>cuando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accent1"/>
                </a:solidFill>
              </a:rPr>
              <a:t>vio</a:t>
            </a:r>
            <a:r>
              <a:rPr lang="en-US" sz="2800" dirty="0">
                <a:solidFill>
                  <a:schemeClr val="tx1"/>
                </a:solidFill>
              </a:rPr>
              <a:t> una llama.</a:t>
            </a:r>
            <a:endParaRPr lang="en-US" sz="2800" dirty="0"/>
          </a:p>
          <a:p>
            <a:pPr marL="0" indent="0">
              <a:spcAft>
                <a:spcPts val="22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Escribía</a:t>
            </a:r>
            <a:r>
              <a:rPr lang="en-US" sz="2800" dirty="0">
                <a:solidFill>
                  <a:schemeClr val="tx1"/>
                </a:solidFill>
              </a:rPr>
              <a:t> en su cuaderno </a:t>
            </a:r>
            <a:r>
              <a:rPr lang="en-US" sz="2800" b="1" u="sng" dirty="0">
                <a:solidFill>
                  <a:schemeClr val="tx1"/>
                </a:solidFill>
              </a:rPr>
              <a:t>cuando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accent1"/>
                </a:solidFill>
              </a:rPr>
              <a:t>llegó</a:t>
            </a:r>
            <a:r>
              <a:rPr lang="en-US" sz="2800" dirty="0">
                <a:solidFill>
                  <a:schemeClr val="tx1"/>
                </a:solidFill>
              </a:rPr>
              <a:t> el taxi.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Íker a caballo" descr="Íker a caba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4389120" cy="548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52160" y="685800"/>
            <a:ext cx="576072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— ¿Alguna vez </a:t>
            </a:r>
            <a:r>
              <a:rPr lang="en-US" sz="2800" b="1" dirty="0">
                <a:solidFill>
                  <a:schemeClr val="accent3"/>
                </a:solidFill>
              </a:rPr>
              <a:t>has montado</a:t>
            </a:r>
            <a:r>
              <a:rPr lang="en-US" sz="2800" dirty="0">
                <a:solidFill>
                  <a:schemeClr val="tx1"/>
                </a:solidFill>
              </a:rPr>
              <a:t> a caballo?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— Sí, </a:t>
            </a:r>
            <a:r>
              <a:rPr lang="en-US" sz="2800" b="1" dirty="0">
                <a:solidFill>
                  <a:schemeClr val="accent3"/>
                </a:solidFill>
              </a:rPr>
              <a:t>he montado</a:t>
            </a:r>
            <a:r>
              <a:rPr lang="en-US" sz="2800" dirty="0">
                <a:solidFill>
                  <a:schemeClr val="tx1"/>
                </a:solidFill>
              </a:rPr>
              <a:t> a caballo.</a:t>
            </a:r>
            <a:endParaRPr lang="en-US" sz="28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— ¿Cuándo </a:t>
            </a:r>
            <a:r>
              <a:rPr lang="en-US" sz="2800" b="1" dirty="0">
                <a:solidFill>
                  <a:schemeClr val="accent1"/>
                </a:solidFill>
              </a:rPr>
              <a:t>fue</a:t>
            </a:r>
            <a:r>
              <a:rPr lang="en-US" sz="2800" dirty="0">
                <a:solidFill>
                  <a:schemeClr val="tx1"/>
                </a:solidFill>
              </a:rPr>
              <a:t>?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— </a:t>
            </a:r>
            <a:r>
              <a:rPr lang="en-US" sz="2800" b="1" dirty="0">
                <a:solidFill>
                  <a:schemeClr val="accent1"/>
                </a:solidFill>
              </a:rPr>
              <a:t>Fue</a:t>
            </a:r>
            <a:r>
              <a:rPr lang="en-US" sz="2800" dirty="0">
                <a:solidFill>
                  <a:schemeClr val="tx1"/>
                </a:solidFill>
              </a:rPr>
              <a:t> en 2019.</a:t>
            </a:r>
            <a:endParaRPr lang="en-US" sz="28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 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— ¿Cómo </a:t>
            </a:r>
            <a:r>
              <a:rPr lang="en-US" sz="2800" b="1" dirty="0">
                <a:solidFill>
                  <a:schemeClr val="accent2"/>
                </a:solidFill>
              </a:rPr>
              <a:t>era</a:t>
            </a:r>
            <a:r>
              <a:rPr lang="en-US" sz="2800" dirty="0">
                <a:solidFill>
                  <a:schemeClr val="tx1"/>
                </a:solidFill>
              </a:rPr>
              <a:t> el caballo?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— </a:t>
            </a:r>
            <a:r>
              <a:rPr lang="en-US" sz="2800" b="1" dirty="0">
                <a:solidFill>
                  <a:schemeClr val="accent2"/>
                </a:solidFill>
              </a:rPr>
              <a:t>Era</a:t>
            </a:r>
            <a:r>
              <a:rPr lang="en-US" sz="2800" dirty="0">
                <a:solidFill>
                  <a:schemeClr val="tx1"/>
                </a:solidFill>
              </a:rPr>
              <a:t> grande y marrón.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¿Alguna vez </a:t>
            </a:r>
            <a:r>
              <a:rPr lang="en-US" sz="4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has</a:t>
            </a: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…?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¿Cuándo </a:t>
            </a: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fue</a:t>
            </a: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¿Cómo </a:t>
            </a:r>
            <a:r>
              <a:rPr lang="en-US" sz="4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era</a:t>
            </a: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…?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¿Cómo </a:t>
            </a:r>
            <a:r>
              <a:rPr lang="en-US" sz="4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estaba</a:t>
            </a:r>
            <a:r>
              <a:rPr lang="en-US" sz="4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…?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tx2"/>
                </a:solidFill>
              </a:rPr>
              <a:t>↓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tx2"/>
                </a:solidFill>
              </a:rPr>
              <a:t>↓</a:t>
            </a:r>
            <a:endParaRPr lang="en-US" sz="3000" dirty="0"/>
          </a:p>
        </p:txBody>
      </p:sp>
      <p:sp>
        <p:nvSpPr>
          <p:cNvPr id="8" name="QR entrevista tarjeta"/>
          <p:cNvSpPr/>
          <p:nvPr/>
        </p:nvSpPr>
        <p:spPr>
          <a:xfrm>
            <a:off x="7498080" y="1143000"/>
            <a:ext cx="3931920" cy="448056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QR entrevista" descr="Código QR: Tus imágen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325880"/>
            <a:ext cx="3566160" cy="35661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589520" y="4937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Tus imágenes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Las preguntas de la entrevista</a:t>
            </a:r>
            <a:endParaRPr lang="en-US" sz="3400" dirty="0"/>
          </a:p>
        </p:txBody>
      </p:sp>
      <p:graphicFrame>
        <p:nvGraphicFramePr>
          <p:cNvPr id="13" name="Preguntas de la entrevist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439134"/>
              </p:ext>
            </p:extLst>
          </p:nvPr>
        </p:nvGraphicFramePr>
        <p:xfrm>
          <a:off x="548639" y="1417320"/>
          <a:ext cx="11251011" cy="4754880"/>
        </p:xfrm>
        <a:graphic>
          <a:graphicData uri="http://schemas.openxmlformats.org/drawingml/2006/table">
            <a:tbl>
              <a:tblPr/>
              <a:tblGrid>
                <a:gridCol w="511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7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93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¿Alguna vez </a:t>
                      </a: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has montado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a caballo?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¿Cuándo </a:t>
                      </a: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fue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¿Cómo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</a:rPr>
                        <a:t>era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el caballo?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¿Alguna vez </a:t>
                      </a: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has nadado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en el mar?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¿Cuándo </a:t>
                      </a: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fue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¿Cómo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</a:rPr>
                        <a:t>estaba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el agua?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¿Alguna vez </a:t>
                      </a: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has visto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la nieve?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¿Cuándo </a:t>
                      </a: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fue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¿Cómo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</a:rPr>
                        <a:t>era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el lugar?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¿Alguna vez </a:t>
                      </a: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has perdido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las llaves?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¿Cuándo </a:t>
                      </a: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fue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¿Dónde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</a:rPr>
                        <a:t>estaban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las llaves?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¿Alguna vez </a:t>
                      </a: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has viajado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en avión?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¿Cuándo </a:t>
                      </a: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fue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¿Con quién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</a:rPr>
                        <a:t>estabas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¿Alguna vez </a:t>
                      </a: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has hecho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una torta?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¿Cuándo </a:t>
                      </a: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fue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¿Cómo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</a:rPr>
                        <a:t>estaba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la torta?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¿Alguna vez </a:t>
                      </a: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has roto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un celular?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¿Cuándo </a:t>
                      </a: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fue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¿Cómo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</a:rPr>
                        <a:t>era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el celular?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¿Alguna vez </a:t>
                      </a: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has escrito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una carta de amor?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¿Cuándo </a:t>
                      </a: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fue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¿Para quién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</a:rPr>
                        <a:t>era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la carta?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¿Alguna vez </a:t>
                      </a: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has comido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sushi?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¿Cuándo </a:t>
                      </a: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fue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¿Cómo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</a:rPr>
                        <a:t>era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el restaurante?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¿Alguna vez </a:t>
                      </a:r>
                      <a:r>
                        <a:rPr lang="en-US" sz="1900" b="1" dirty="0">
                          <a:solidFill>
                            <a:schemeClr val="accent3"/>
                          </a:solidFill>
                        </a:rPr>
                        <a:t>has ganado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 un premio?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¿Cuándo </a:t>
                      </a: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fue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¿Con quién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</a:rPr>
                        <a:t>estabas</a:t>
                      </a: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epaso tres pasados">
  <a:themeElements>
    <a:clrScheme name="Repaso tres pasados">
      <a:dk1>
        <a:srgbClr val="1F2A37"/>
      </a:dk1>
      <a:lt1>
        <a:srgbClr val="FBF6EC"/>
      </a:lt1>
      <a:dk2>
        <a:srgbClr val="5B6676"/>
      </a:dk2>
      <a:lt2>
        <a:srgbClr val="FFFFFF"/>
      </a:lt2>
      <a:accent1>
        <a:srgbClr val="D2452A"/>
      </a:accent1>
      <a:accent2>
        <a:srgbClr val="12807F"/>
      </a:accent2>
      <a:accent3>
        <a:srgbClr val="6A45B5"/>
      </a:accent3>
      <a:accent4>
        <a:srgbClr val="E4DAC6"/>
      </a:accent4>
      <a:accent5>
        <a:srgbClr val="F1E8D6"/>
      </a:accent5>
      <a:accent6>
        <a:srgbClr val="1F2A37"/>
      </a:accent6>
      <a:hlink>
        <a:srgbClr val="12807F"/>
      </a:hlink>
      <a:folHlink>
        <a:srgbClr val="6A45B5"/>
      </a:folHlink>
    </a:clrScheme>
    <a:fontScheme name="Repaso tres pasado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854</Words>
  <Application>Microsoft Office PowerPoint</Application>
  <PresentationFormat>Widescreen</PresentationFormat>
  <Paragraphs>137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Georgia</vt:lpstr>
      <vt:lpstr>Repaso tres pasados</vt:lpstr>
      <vt:lpstr>Apresentação do PowerPoint</vt:lpstr>
      <vt:lpstr>Cambia el marcador</vt:lpstr>
      <vt:lpstr>Tres preguntas</vt:lpstr>
      <vt:lpstr>Apresentação do PowerPoint</vt:lpstr>
      <vt:lpstr>¿1, 2 o 3?</vt:lpstr>
      <vt:lpstr>Un encuentro inesperado</vt:lpstr>
      <vt:lpstr>Mitades</vt:lpstr>
      <vt:lpstr>Así se une</vt:lpstr>
      <vt:lpstr>El viaje de Lucía</vt:lpstr>
      <vt:lpstr>Apresentação do PowerPoint</vt:lpstr>
      <vt:lpstr>Apresentação do PowerPoint</vt:lpstr>
      <vt:lpstr>Las preguntas de la entrevista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Repaso · Los tres pasados</dc:title>
  <dc:subject>PptxGenJS Presentation</dc:subject>
  <dc:creator>Juani</dc:creator>
  <cp:lastModifiedBy>Juan Antonio Morales</cp:lastModifiedBy>
  <cp:revision>2</cp:revision>
  <dcterms:created xsi:type="dcterms:W3CDTF">2026-10-10T13:18:44Z</dcterms:created>
  <dcterms:modified xsi:type="dcterms:W3CDTF">2026-10-10T13:21:26Z</dcterms:modified>
</cp:coreProperties>
</file>