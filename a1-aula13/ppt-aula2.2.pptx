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0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EDE0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 L A   1 3   ·   E S P A Ñ O L   ·   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</a:t>
            </a:r>
            <a:r>
              <a:rPr lang="en-US" sz="6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TUYO</a:t>
            </a:r>
            <a:r>
              <a:rPr lang="en-US" sz="60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B2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Posesivos e interrogativos · con Nicolás Quispe, Cusco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60 minutos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32508" y="3886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32508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Escucha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98468" y="3886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198468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Habla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4428" y="3886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164428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Gramática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0388" y="3886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130388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Repaso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vamos a repasar lo siguiente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Personales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37944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 trabajo, ella descansa.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404872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átonos: objeto directo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752344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¿Tienes mi casaca? — Sí, la tengo.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319272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átonos: objeto indirecto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66744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le manda la casaca a Camila.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41605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233672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tónicos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581144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regalo es para mí.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5800" y="50749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🪞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5148072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Reflexivos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5495544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llamo Nicolás.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TEMA NUEVO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vamos a aprender lo siguiente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1A1B45"/>
          </a:solidFill>
          <a:ln w="12700">
            <a:solidFill>
              <a:srgbClr val="1A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2296" cy="14173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Posesivos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Decir que algo es mío, tuyo, suyo o nuestro.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Usar las dos formas: es mi mochila / la mochila es mía.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1A1B45"/>
          </a:solidFill>
          <a:ln w="12700">
            <a:solidFill>
              <a:srgbClr val="1A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82296" cy="14173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Interrogativos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Hacer preguntas con las 8 palabras: qué · cómo · cuál · quién · dónde · adónde · de dónde · cuántos.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50292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 la clase vas a poder decir de quién es cada cosa del albergue.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Workspace\espanhol\a1-aula13\images\nicolas-quisp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548640"/>
            <a:ext cx="36576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34840" y="548640"/>
            <a:ext cx="72539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QUISPE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434840" y="1143000"/>
            <a:ext cx="7253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Recepcionista de un albergue · 26 años · Cusco, Perú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434840" y="16002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 CONOCE A NICOLÁS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434840" y="1965960"/>
            <a:ext cx="7253935" cy="685800"/>
          </a:xfrm>
          <a:prstGeom prst="roundRect">
            <a:avLst>
              <a:gd name="adj" fmla="val 666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434840" y="1965960"/>
            <a:ext cx="54864" cy="6858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617720" y="2039112"/>
            <a:ext cx="68881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17720" y="2258568"/>
            <a:ext cx="6888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🇵🇪 Cusco, Perú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2761488"/>
            <a:ext cx="7253935" cy="685800"/>
          </a:xfrm>
          <a:prstGeom prst="roundRect">
            <a:avLst>
              <a:gd name="adj" fmla="val 666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434840" y="2761488"/>
            <a:ext cx="54864" cy="6858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617720" y="2834640"/>
            <a:ext cx="68881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17720" y="3054096"/>
            <a:ext cx="6888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🏨 Recepción del albergue (y de todo lo demás)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34840" y="3557016"/>
            <a:ext cx="7253935" cy="685800"/>
          </a:xfrm>
          <a:prstGeom prst="roundRect">
            <a:avLst>
              <a:gd name="adj" fmla="val 666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434840" y="3557016"/>
            <a:ext cx="54864" cy="6858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617720" y="3630168"/>
            <a:ext cx="68881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ESPECIAL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17720" y="3849624"/>
            <a:ext cx="6888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📓 «la caja de los olvidados»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34840" y="4398264"/>
            <a:ext cx="7253935" cy="777240"/>
          </a:xfrm>
          <a:prstGeom prst="roundRect">
            <a:avLst>
              <a:gd name="adj" fmla="val 9412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617720" y="4489704"/>
            <a:ext cx="68881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lo boto. No es </a:t>
            </a:r>
            <a:r>
              <a:rPr lang="en-US" sz="13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r>
              <a:rPr lang="en-US" sz="13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es </a:t>
            </a:r>
            <a:r>
              <a:rPr lang="en-US" sz="13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suyo</a:t>
            </a:r>
            <a:r>
              <a:rPr lang="en-US" sz="13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Workspace\espanhol\a1-aula13\images\nicolas-caj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2920" y="548640"/>
            <a:ext cx="457200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49240" y="548640"/>
            <a:ext cx="6339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ESCUCHA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49240" y="841248"/>
            <a:ext cx="6339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 a Nicolás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349240" y="1463040"/>
            <a:ext cx="6339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B2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ESCUCHA EL AUDIO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166360" y="1767516"/>
            <a:ext cx="6339535" cy="640080"/>
          </a:xfrm>
          <a:prstGeom prst="roundRect">
            <a:avLst>
              <a:gd name="adj" fmla="val 11429"/>
            </a:avLst>
          </a:prstGeom>
          <a:solidFill>
            <a:srgbClr val="F8EFDC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4"/>
          <p:cNvSpPr/>
          <p:nvPr/>
        </p:nvSpPr>
        <p:spPr>
          <a:xfrm>
            <a:off x="6446989" y="1791050"/>
            <a:ext cx="5973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audio/audio-nicolas.mp3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49240" y="2651760"/>
            <a:ext cx="6339535" cy="1005840"/>
          </a:xfrm>
          <a:prstGeom prst="roundRect">
            <a:avLst>
              <a:gd name="adj" fmla="val 7273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577840" y="2651760"/>
            <a:ext cx="58823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Escucha: ¿qué guarda Nicolás en la caja?</a:t>
            </a:r>
            <a:endParaRPr lang="en-US" sz="1700" dirty="0"/>
          </a:p>
        </p:txBody>
      </p:sp>
      <p:pic>
        <p:nvPicPr>
          <p:cNvPr id="10" name="audio-nicolas">
            <a:hlinkClick r:id="" action="ppaction://media"/>
            <a:extLst>
              <a:ext uri="{FF2B5EF4-FFF2-40B4-BE49-F238E27FC236}">
                <a16:creationId xmlns:a16="http://schemas.microsoft.com/office/drawing/2014/main" id="{0B199642-4FB5-6365-9503-E66DB99B49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34158" y="184435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8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mute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COMPRENSIÓN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entendiste?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731520"/>
          </a:xfrm>
          <a:prstGeom prst="roundRect">
            <a:avLst>
              <a:gd name="adj" fmla="val 75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" cy="7315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20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trabaja Nicolás?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1185855" cy="731520"/>
          </a:xfrm>
          <a:prstGeom prst="roundRect">
            <a:avLst>
              <a:gd name="adj" fmla="val 75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54864" cy="7315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20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hay en la caja de los olvidados?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11185855" cy="731520"/>
          </a:xfrm>
          <a:prstGeom prst="roundRect">
            <a:avLst>
              <a:gd name="adj" fmla="val 75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54864" cy="7315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20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guarda el cuaderno?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TEXTO DEL AUDIO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dijo Nicolás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1" y="1508760"/>
            <a:ext cx="110438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Hola, ¿qué tal? Me llamo Nicolás, tengo veintiséis años y trabajo en la recepción de un albergue en Cusco. Bueno… trabajo en la recepción, en la cocina, en la puerta, en todos lados, la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alguien llega siempre les pregunto lo mismo: ¿cómo te llamas?, ¿de dónde eres?, ¿cuántas noches te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encanta recibir huéspedes, pero quiero contarles algo... ellos siempre se olvidan de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tengo una caja. La llamo «la caja de los olvidados». Está debajo del mostrador y está llena de cosas: tengo por ejemplo, una casaca azul, un cargador, tres libros, unos lentes de sol y un peluche, entre otras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algn="just">
              <a:lnSpc>
                <a:spcPct val="130000"/>
              </a:lnSpc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vuelven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sus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me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«Nicolás, ¿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casaca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o ¿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audífonos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?», y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buscarlos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conmigo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las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les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pasen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buscarlas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  <a:p>
            <a:pPr algn="just">
              <a:lnSpc>
                <a:spcPct val="130000"/>
              </a:lnSpc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hay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reclama. Es un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cuaderno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cuaderno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chiquito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color café, con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dibujos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acá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teléfono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nada.</a:t>
            </a:r>
            <a:endParaRPr lang="en-US" sz="1700" dirty="0"/>
          </a:p>
          <a:p>
            <a:pPr algn="just">
              <a:lnSpc>
                <a:spcPct val="130000"/>
              </a:lnSpc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días: ¿de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es?, ¿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reclama?, ¿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adónde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  <a:p>
            <a:pPr algn="just">
              <a:lnSpc>
                <a:spcPct val="130000"/>
              </a:lnSpc>
            </a:pP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Pero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lo boto.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Algún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día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albergue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me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decir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«ese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cuaderno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». Y ese día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super </a:t>
            </a:r>
            <a:r>
              <a:rPr lang="en-US" sz="1700" dirty="0" err="1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bacán</a:t>
            </a:r>
            <a:r>
              <a:rPr lang="en-US" sz="17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  <a:p>
            <a:pPr marL="0" indent="0" algn="just">
              <a:lnSpc>
                <a:spcPct val="1300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Personales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40362" cy="1234440"/>
          </a:xfrm>
          <a:prstGeom prst="roundRect">
            <a:avLst>
              <a:gd name="adj" fmla="val 4444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23444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567460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las palabras que dicen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hace la acción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En español son seis: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yo, tú, él/ella/usted, nosotros/as, vosotros/as, ellos/ellas/ustedes.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6040362" cy="1737360"/>
          </a:xfrm>
          <a:prstGeom prst="roundRect">
            <a:avLst>
              <a:gd name="adj" fmla="val 3158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4864" cy="17373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28620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IMPORTANTE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081528"/>
            <a:ext cx="567460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español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nunca se dicen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verbo ya lleva la información: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solo puede ser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trabajas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solo puede ser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Por eso decimos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«Trabajo en Cusco»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no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«Yo trabajo en Cusco».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6040362" cy="1417320"/>
          </a:xfrm>
          <a:prstGeom prst="roundRect">
            <a:avLst>
              <a:gd name="adj" fmla="val 38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54864" cy="14173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4663440"/>
            <a:ext cx="567460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portugués e inglés no es así: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work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trabalho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siempre llevan el pronombre. 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error nº 1 del alumno brasileño.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63322" y="1417320"/>
            <a:ext cx="482545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sí se dice? Solo por tres razones: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1783080"/>
          <a:ext cx="4825454" cy="1554480"/>
        </p:xfrm>
        <a:graphic>
          <a:graphicData uri="http://schemas.openxmlformats.org/drawingml/2006/table">
            <a:tbl>
              <a:tblPr/>
              <a:tblGrid>
                <a:gridCol w="241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Razón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Contraste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 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trabajo, ella descansa.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de turno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 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soy de Cusco. ¿Y tú?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Énfasis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 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fui, ¡fue él!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863322" y="3474720"/>
            <a:ext cx="48254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estos tres casos, el pronombre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sobra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Personales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 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les pregunto lo mismo.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verbo ya dice quién, ¿por qué Nicolás dice «yo»?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6040362" cy="502920"/>
          </a:xfrm>
          <a:prstGeom prst="roundRect">
            <a:avLst>
              <a:gd name="adj" fmla="val 909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45720" cy="5029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7512" y="2377440"/>
            <a:ext cx="57660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trabaja en Cusco.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trabaja en Cusco.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6040362" cy="502920"/>
          </a:xfrm>
          <a:prstGeom prst="roundRect">
            <a:avLst>
              <a:gd name="adj" fmla="val 909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02920" y="2953512"/>
            <a:ext cx="45720" cy="5029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7512" y="2953512"/>
            <a:ext cx="57660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Camila y Lucas llegaron el martes.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Ellos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llegaron el martes.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6040362" cy="502920"/>
          </a:xfrm>
          <a:prstGeom prst="roundRect">
            <a:avLst>
              <a:gd name="adj" fmla="val 909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02920" y="3529584"/>
            <a:ext cx="45720" cy="5029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7512" y="3529584"/>
            <a:ext cx="57660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y yo trabajamos juntos.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trabajamos juntos.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105656"/>
            <a:ext cx="6040362" cy="502920"/>
          </a:xfrm>
          <a:prstGeom prst="roundRect">
            <a:avLst>
              <a:gd name="adj" fmla="val 909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02920" y="4105656"/>
            <a:ext cx="45720" cy="5029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67512" y="4105656"/>
            <a:ext cx="57660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Camila pregunta cómo te llamas.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pregunta cómo te llamas.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727448"/>
            <a:ext cx="6040362" cy="1051560"/>
          </a:xfrm>
          <a:prstGeom prst="roundRect">
            <a:avLst>
              <a:gd name="adj" fmla="val 521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02920" y="4727448"/>
            <a:ext cx="54864" cy="10515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4800600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OJO · EL VOSEO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5020056"/>
            <a:ext cx="567460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Argentina, Uruguay y Paraguay no se usa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 usa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 el verbo cambia: </a:t>
            </a:r>
            <a:r>
              <a:rPr lang="en-US" sz="115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tienes → vos tenés · tú hablas → vos hablás · tú eres → vos sos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Nicolás es peruano: él usa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2377440"/>
          <a:ext cx="4825453" cy="2606040"/>
        </p:xfrm>
        <a:graphic>
          <a:graphicData uri="http://schemas.openxmlformats.org/drawingml/2006/table">
            <a:tbl>
              <a:tblPr/>
              <a:tblGrid>
                <a:gridCol w="231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 </a:t>
                      </a:r>
                      <a:r>
                        <a:rPr lang="en-US" sz="800" b="1" dirty="0">
                          <a:solidFill>
                            <a:srgbClr val="6F675C"/>
                          </a:solidFill>
                        </a:rPr>
                        <a:t> (solo España)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6863322" y="5074920"/>
            <a:ext cx="48254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Función: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sujeto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quien hace la acción.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átonos: objeto directo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40362" cy="1371600"/>
          </a:xfrm>
          <a:prstGeom prst="roundRect">
            <a:avLst>
              <a:gd name="adj" fmla="val 4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3716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567460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palabra que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la acción directamente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preposición. En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«Nicolás guarda el cuaderno»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 que Nicolás guarda es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cuaderno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ese es el objeto directo.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" y="2926080"/>
            <a:ext cx="6040362" cy="1554480"/>
          </a:xfrm>
          <a:prstGeom prst="roundRect">
            <a:avLst>
              <a:gd name="adj" fmla="val 352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54864" cy="15544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299923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 EL PRONOMBRE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567460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repetir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que ya se dijo. Nadie contesta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«Sí, tengo tu casaca, mando tu casaca mañana»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 dice: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«Sí, 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tengo. 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mando mañana.»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6040362" cy="822960"/>
          </a:xfrm>
          <a:prstGeom prst="roundRect">
            <a:avLst>
              <a:gd name="adj" fmla="val 666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54864" cy="8229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567460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encontrarlo: 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¿qué?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verbo.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guarda ¿qué?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cuaderno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objeto directo.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1417320"/>
          <a:ext cx="4825454" cy="1920240"/>
        </p:xfrm>
        <a:graphic>
          <a:graphicData uri="http://schemas.openxmlformats.org/drawingml/2006/table">
            <a:tbl>
              <a:tblPr/>
              <a:tblGrid>
                <a:gridCol w="241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Sin pronombre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 pronombre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¿Tienes mi casaca?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Sí,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tengo.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¿Encontraste los lentes?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No, no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encontré.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¿Y las llaves?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dejé en la cocina.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863322" y="3520440"/>
            <a:ext cx="48254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pronombre va justo antes del verbo conjugado — reemplaza a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cosa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nombrada antes.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átonos: objeto directo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yo </a:t>
            </a: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= la casaca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7512" y="2377440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Busco la casaca.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89504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02920" y="2889504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7512" y="2889504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Busco el cargador.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7512" y="3401568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Busco los lentes.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13632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67512" y="3913632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Busco las llaves.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425696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02920" y="4425696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67512" y="4425696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Encuentro el cuaderno.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encuentro.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983480"/>
            <a:ext cx="6040362" cy="868680"/>
          </a:xfrm>
          <a:prstGeom prst="roundRect">
            <a:avLst>
              <a:gd name="adj" fmla="val 6316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02920" y="4983480"/>
            <a:ext cx="54864" cy="8686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85800" y="505663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OJO · DÓNDE VA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5276088"/>
            <a:ext cx="567460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verbo conjugado: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busco. O pegado al infinitivo: voy a buscar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Las dos son correctas.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2377440"/>
          <a:ext cx="4825453" cy="2606040"/>
        </p:xfrm>
        <a:graphic>
          <a:graphicData uri="http://schemas.openxmlformats.org/drawingml/2006/table">
            <a:tbl>
              <a:tblPr/>
              <a:tblGrid>
                <a:gridCol w="231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ME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LO / LA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 </a:t>
                      </a:r>
                      <a:r>
                        <a:rPr lang="en-US" sz="800" b="1" dirty="0">
                          <a:solidFill>
                            <a:srgbClr val="6F675C"/>
                          </a:solidFill>
                        </a:rPr>
                        <a:t> (solo España)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LOS / LAS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863322" y="5074920"/>
            <a:ext cx="48254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Sustituye </a:t>
            </a:r>
            <a:r>
              <a:rPr lang="en-US" sz="115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recibe la acción, sin preposición. Cambia según el género y el número </a:t>
            </a:r>
            <a:r>
              <a:rPr lang="en-US" sz="115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COSA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átonos: objeto indirecto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40362" cy="1417320"/>
          </a:xfrm>
          <a:prstGeom prst="roundRect">
            <a:avLst>
              <a:gd name="adj" fmla="val 38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4173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567460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llega la acción. En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«Nicolás manda la casaca a Camila»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 casaca es el objeto directo, y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Camila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el objeto indirecto: es quien la recibe.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044952"/>
            <a:ext cx="6040362" cy="914400"/>
          </a:xfrm>
          <a:prstGeom prst="roundRect">
            <a:avLst>
              <a:gd name="adj" fmla="val 6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54864" cy="9144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304495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 EL PRONOMBRE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264408"/>
            <a:ext cx="567460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que el directo: para no repetir.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mando la casaca.»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6040362" cy="1097280"/>
          </a:xfrm>
          <a:prstGeom prst="roundRect">
            <a:avLst>
              <a:gd name="adj" fmla="val 5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54864" cy="10972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567460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encontrarlo: 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quién?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verbo.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manda la casaca ¿a quién?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Camila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objeto indirecto.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1417320"/>
          <a:ext cx="4825454" cy="1920240"/>
        </p:xfrm>
        <a:graphic>
          <a:graphicData uri="http://schemas.openxmlformats.org/drawingml/2006/table">
            <a:tbl>
              <a:tblPr/>
              <a:tblGrid>
                <a:gridCol w="241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Sin pronombre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 pronombre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Nicolás manda la casaca a Camila.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Nicolás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manda la casaca.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Escribo a mis padres cada semana.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escribo cada semana.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¿Me dices tu nombre?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= a mí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863322" y="3520440"/>
            <a:ext cx="48254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que casi siempre lo llevan: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dar, decir, escribir, mandar, preguntar, gustar, contar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átonos: objeto indirecto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 siempre </a:t>
            </a: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pregunto lo mismo.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Doy el libro a Camila.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doy el libro.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60904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Doy el libro a Lucas.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doy el libro.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72968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7512" y="3172968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Doy el libro a mis amigos.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doy el libro.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512" y="3685032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Escribo un mensaje a mi jefe.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escribo un mensaje.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97096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02920" y="4197096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7512" y="4197096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Cuento la historia a los huéspedes. →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cuento la historia.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6040362" cy="868680"/>
          </a:xfrm>
          <a:prstGeom prst="roundRect">
            <a:avLst>
              <a:gd name="adj" fmla="val 6316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54864" cy="8686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482803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OJO · NO CAMBIA CON EL GÉNERO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5047488"/>
            <a:ext cx="567460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 Camila» y «a Lucas» son los dos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directo cambia (lo/la). El indirecto, no.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2148840"/>
          <a:ext cx="4825453" cy="914400"/>
        </p:xfrm>
        <a:graphic>
          <a:graphicData uri="http://schemas.openxmlformats.org/drawingml/2006/table">
            <a:tbl>
              <a:tblPr/>
              <a:tblGrid>
                <a:gridCol w="231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ME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 </a:t>
                      </a:r>
                      <a:r>
                        <a:rPr lang="en-US" sz="800" b="1" dirty="0">
                          <a:solidFill>
                            <a:srgbClr val="6F675C"/>
                          </a:solidFill>
                        </a:rPr>
                        <a:t> (solo España)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863322" y="4846320"/>
            <a:ext cx="482545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Sustituye </a:t>
            </a:r>
            <a:r>
              <a:rPr lang="en-US" sz="115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dirige la acción. Verbos típicos: dar, decir, escribir, mandar, preguntar, gustar.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complementos tónicos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40362" cy="1051560"/>
          </a:xfrm>
          <a:prstGeom prst="roundRect">
            <a:avLst>
              <a:gd name="adj" fmla="val 521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05156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567460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los pronombres que se usan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una preposición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de, para, sin, con, por…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6040362" cy="2057400"/>
          </a:xfrm>
          <a:prstGeom prst="roundRect">
            <a:avLst>
              <a:gd name="adj" fmla="val 266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54864" cy="20574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898648"/>
            <a:ext cx="5674602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cosas. Primero,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los únicos posibles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después de preposición: no existe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yo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Segundo, sirven para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deshacer una ambigüedad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dejan claro de quién hablamos, se aclara con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él, de ella.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6040362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480060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567460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voseo cambian dos: 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vos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(nunca «convos») y 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vos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resto de la tabla no cambia.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1417320"/>
          <a:ext cx="4825454" cy="2423160"/>
        </p:xfrm>
        <a:graphic>
          <a:graphicData uri="http://schemas.openxmlformats.org/drawingml/2006/table">
            <a:tbl>
              <a:tblPr/>
              <a:tblGrid>
                <a:gridCol w="241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Correcto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Incorrecto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 regalo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mí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strike="sngStrike" dirty="0">
                          <a:solidFill>
                            <a:srgbClr val="6F67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quiero ir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ti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strike="sngStrike" dirty="0">
                          <a:solidFill>
                            <a:srgbClr val="6F67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¿De quién es? — Es de ella.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¿Vienes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conmigo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+ mí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Voy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contigo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+ ti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3"/>
          <p:cNvSpPr/>
          <p:nvPr/>
        </p:nvSpPr>
        <p:spPr>
          <a:xfrm>
            <a:off x="6863322" y="3977640"/>
            <a:ext cx="48254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después de preposición — siempre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complementos tónicos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quién es? — Es </a:t>
            </a: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ÉL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regalo es para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</a:t>
            </a:r>
            <a:r>
              <a:rPr lang="en-US" sz="1100" b="1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(nunca «para yo»)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60904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quiero ir sin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r>
              <a:rPr lang="en-US" sz="1100" b="1" i="1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(nunca «sin tú»)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72968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7512" y="3172968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mochila es de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512" y="3685032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¿Vienes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CONMIGO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97096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02920" y="4197096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7512" y="4197096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CONTIGO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6040362" cy="868680"/>
          </a:xfrm>
          <a:prstGeom prst="roundRect">
            <a:avLst>
              <a:gd name="adj" fmla="val 6316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54864" cy="8686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482803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OJO · ACENTO Y VOSEO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5047488"/>
            <a:ext cx="567460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lleva acento.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lleva nunca. Con vos: «para vos», «sin vos» — y no existe «convos», se dice «con vos».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2148840"/>
          <a:ext cx="4825453" cy="914400"/>
        </p:xfrm>
        <a:graphic>
          <a:graphicData uri="http://schemas.openxmlformats.org/drawingml/2006/table">
            <a:tbl>
              <a:tblPr/>
              <a:tblGrid>
                <a:gridCol w="231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MÍ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TI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 </a:t>
                      </a:r>
                      <a:r>
                        <a:rPr lang="en-US" sz="800" b="1" dirty="0">
                          <a:solidFill>
                            <a:srgbClr val="6F675C"/>
                          </a:solidFill>
                        </a:rPr>
                        <a:t> (solo España)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863322" y="4846320"/>
            <a:ext cx="482545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aparecen solos: siempre después de preposición (a, para, de, sin, con…).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reflexivos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40362" cy="1188720"/>
          </a:xfrm>
          <a:prstGeom prst="roundRect">
            <a:avLst>
              <a:gd name="adj" fmla="val 4615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18872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567460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usan cuando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acción vuelve a la misma persona que la hace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levanta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Nicolás levanta a Nicolás.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6040362" cy="1051560"/>
          </a:xfrm>
          <a:prstGeom prst="roundRect">
            <a:avLst>
              <a:gd name="adj" fmla="val 521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4864" cy="10515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281635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035808"/>
            <a:ext cx="567460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un adorno: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cambian el significado del verbo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Muchos verbos son dos verbos distintos según lleven o no el pronombre.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6040362" cy="822960"/>
          </a:xfrm>
          <a:prstGeom prst="roundRect">
            <a:avLst>
              <a:gd name="adj" fmla="val 666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54864" cy="8229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567460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todos los verbos de rutina lo llevan: </a:t>
            </a: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levantarse, ducharse, vestirse, acostarse, llamarse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1417320"/>
          <a:ext cx="4825454" cy="2423160"/>
        </p:xfrm>
        <a:graphic>
          <a:graphicData uri="http://schemas.openxmlformats.org/drawingml/2006/table">
            <a:tbl>
              <a:tblPr/>
              <a:tblGrid>
                <a:gridCol w="241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Sin pronombre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 pronombre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 mi madre.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llamo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Nicolás.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Olvido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las llaves.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olvido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las llaves.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Voy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al mercado.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voy.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Duermo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ocho horas.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duermo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 las once.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863322" y="3977640"/>
            <a:ext cx="48254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verbo,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significado distinto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según lleve o no el pronombre.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reflexivos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van y </a:t>
            </a: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olvidan de sus cosas.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Llamo a mi madre. ≠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llamo Nicolás.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60904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Olvido las llaves. ≠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olvido de las llaves.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72968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7512" y="3172968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Voy. ≠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512" y="3685032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Visto a mi hijo. ≠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visto rápido.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97096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02920" y="4197096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7512" y="4197096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Levanto la caja. ≠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levanto a las seis.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6040362" cy="868680"/>
          </a:xfrm>
          <a:prstGeom prst="roundRect">
            <a:avLst>
              <a:gd name="adj" fmla="val 6316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54864" cy="8686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482803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OJO · CAMBIA EL SENTIDO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5047488"/>
            <a:ext cx="567460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adorno: «llamo a Ana» y «</a:t>
            </a:r>
            <a:r>
              <a:rPr lang="en-US" sz="115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llamo Ana» son dos cosas distintas.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2148840"/>
          <a:ext cx="4825453" cy="914400"/>
        </p:xfrm>
        <a:graphic>
          <a:graphicData uri="http://schemas.openxmlformats.org/drawingml/2006/table">
            <a:tbl>
              <a:tblPr/>
              <a:tblGrid>
                <a:gridCol w="231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ME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 </a:t>
                      </a:r>
                      <a:r>
                        <a:rPr lang="en-US" sz="800" b="1" dirty="0">
                          <a:solidFill>
                            <a:srgbClr val="6F675C"/>
                          </a:solidFill>
                        </a:rPr>
                        <a:t> (solo España)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863322" y="4846320"/>
            <a:ext cx="48254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acción vuelve al mismo sujeto que la hace.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Posesivos: antes del sustantivo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40362" cy="1463040"/>
          </a:xfrm>
          <a:prstGeom prst="roundRect">
            <a:avLst>
              <a:gd name="adj" fmla="val 375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46304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567460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Dicen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quién es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algo. Hay dos grupos, y la diferencia es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se ponen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Este grupo va siempre delante del sustantivo — nunca solo: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mochila · tu cargador · nuestras llaves.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6040362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567460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Concuerdan con la cosa, no con el dueño.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libro / mis libros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aunque el dueño sea siempre yo.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6040362" cy="960120"/>
          </a:xfrm>
          <a:prstGeom prst="roundRect">
            <a:avLst>
              <a:gd name="adj" fmla="val 5714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54864" cy="9601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0050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RECONOCERLO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224528"/>
            <a:ext cx="567460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 un sustantivo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pegado justo después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mochila, cargador, llaves — es este grupo.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63322" y="1417320"/>
            <a:ext cx="4825453" cy="548640"/>
          </a:xfrm>
          <a:prstGeom prst="roundRect">
            <a:avLst>
              <a:gd name="adj" fmla="val 8333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863322" y="1417320"/>
            <a:ext cx="45720" cy="54864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027914" y="1417320"/>
            <a:ext cx="45511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¿Tienes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casaca? — Sí, aquí está.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63322" y="2039112"/>
            <a:ext cx="4825453" cy="548640"/>
          </a:xfrm>
          <a:prstGeom prst="roundRect">
            <a:avLst>
              <a:gd name="adj" fmla="val 8333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863322" y="2039112"/>
            <a:ext cx="45720" cy="54864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027914" y="2039112"/>
            <a:ext cx="45511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lentes están en la recepción.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63322" y="2660904"/>
            <a:ext cx="4825453" cy="548640"/>
          </a:xfrm>
          <a:prstGeom prst="roundRect">
            <a:avLst>
              <a:gd name="adj" fmla="val 8333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863322" y="2660904"/>
            <a:ext cx="45720" cy="54864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027914" y="2660904"/>
            <a:ext cx="45511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¿De quién son estas llaves? — Son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llaves.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63322" y="3282696"/>
            <a:ext cx="4825453" cy="548640"/>
          </a:xfrm>
          <a:prstGeom prst="roundRect">
            <a:avLst>
              <a:gd name="adj" fmla="val 8333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863322" y="3282696"/>
            <a:ext cx="45720" cy="54864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027914" y="3282696"/>
            <a:ext cx="45511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cuaderno está en la caja desde el año pasado.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63322" y="3995928"/>
            <a:ext cx="48254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van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pegados al sustantivo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siempre antes de él.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Posesivos: antes del sustantivo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¿Tienes </a:t>
            </a: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casaca?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mochila y son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libros.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60904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está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cargador?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72968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7512" y="3172968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llaves, de la habitación.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512" y="3685032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cuaderno, el del año pasado.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97096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02920" y="4197096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7512" y="4197096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lentes están en la recepción.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6040362" cy="868680"/>
          </a:xfrm>
          <a:prstGeom prst="roundRect">
            <a:avLst>
              <a:gd name="adj" fmla="val 6316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54864" cy="8686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482803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OJO · «SU» ES AMBIGUO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5047488"/>
            <a:ext cx="567460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«Su casaca» ¿de él? ¿de ella? ¿de usted? ¿de ellos? Si hace falta aclarar: la casaca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ÉL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 casaca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ELLA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2148840"/>
          <a:ext cx="4825453" cy="2606040"/>
        </p:xfrm>
        <a:graphic>
          <a:graphicData uri="http://schemas.openxmlformats.org/drawingml/2006/table">
            <a:tbl>
              <a:tblPr/>
              <a:tblGrid>
                <a:gridCol w="231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MI / MIS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TU / TUS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SU / SUS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NUESTRO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 </a:t>
                      </a:r>
                      <a:r>
                        <a:rPr lang="en-US" sz="800" b="1" dirty="0">
                          <a:solidFill>
                            <a:srgbClr val="6F675C"/>
                          </a:solidFill>
                        </a:rPr>
                        <a:t> (solo España)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VUESTRO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SU / SUS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863322" y="4846320"/>
            <a:ext cx="48254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siempre delante del sustantivo, nunca solos.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Posesivos: después del verbo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40362" cy="1005840"/>
          </a:xfrm>
          <a:prstGeom prst="roundRect">
            <a:avLst>
              <a:gd name="adj" fmla="val 5455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" cy="100584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90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567460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mismo posesivo, pero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después del verbo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 puede ir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sustantivo detrás. Por eso sirve para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contestar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6040362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263347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TIENE SU PAREJA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852928"/>
            <a:ext cx="567460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→ mío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→ tuyo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→ suyo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→ nuestro.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6040362" cy="1417320"/>
          </a:xfrm>
          <a:prstGeom prst="roundRect">
            <a:avLst>
              <a:gd name="adj" fmla="val 38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54864" cy="14173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567460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se usa? 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alguien pregunta de quién es algo. — ¿De quién es esta mochila? — Es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— ¿Es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casaca? — No, creo que es </a:t>
            </a:r>
            <a:r>
              <a:rPr lang="en-US" sz="14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suya</a:t>
            </a:r>
            <a:r>
              <a:rPr lang="en-US" sz="14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1417320"/>
          <a:ext cx="4825454" cy="2194560"/>
        </p:xfrm>
        <a:graphic>
          <a:graphicData uri="http://schemas.openxmlformats.org/drawingml/2006/table">
            <a:tbl>
              <a:tblPr/>
              <a:tblGrid>
                <a:gridCol w="241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Antes del sustantivo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Después del verbo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mochila.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mochila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mía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cargador.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cargador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tuyo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nuestras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llaves.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llaves son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nuestras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cuaderno.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cuaderno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suyo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863322" y="3749040"/>
            <a:ext cx="48254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Fíjate: el posesivo queda </a:t>
            </a: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sustantivo al lado.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Posesivos: después del verbo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CE9E9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</a:t>
            </a: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es </a:t>
            </a:r>
            <a:r>
              <a:rPr lang="en-US" sz="1500" b="1" i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SUYO</a:t>
            </a:r>
            <a:r>
              <a:rPr lang="en-US" sz="15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mochila es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los libros son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60904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7512" y="2660904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cargador es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TUYO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72968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7512" y="3172968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cuaderno es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SUYO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512" y="3685032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llaves son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 los 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97096"/>
            <a:ext cx="6040362" cy="457200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02920" y="4197096"/>
            <a:ext cx="45720" cy="457200"/>
          </a:xfrm>
          <a:prstGeom prst="rect">
            <a:avLst/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7512" y="4197096"/>
            <a:ext cx="5766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lentes son </a:t>
            </a: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MÍOS</a:t>
            </a:r>
            <a:r>
              <a:rPr lang="en-US" sz="13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de Nicolás.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6040362" cy="1051560"/>
          </a:xfrm>
          <a:prstGeom prst="roundRect">
            <a:avLst>
              <a:gd name="adj" fmla="val 521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54864" cy="10515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4828032"/>
            <a:ext cx="56746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OJO · CONCUERDA CON LA COSA, NO CON EL DUEÑO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5047488"/>
            <a:ext cx="567460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«La mochila es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aunque el dueño sea Pedro. «Los libros son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SUYOS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aunque la dueña sea Ana. Con vos no cambia nada: es </a:t>
            </a:r>
            <a:r>
              <a:rPr lang="en-US" sz="11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TUYO</a:t>
            </a:r>
            <a:r>
              <a:rPr lang="en-US" sz="115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igual.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3322" y="2148840"/>
          <a:ext cx="4825453" cy="2606040"/>
        </p:xfrm>
        <a:graphic>
          <a:graphicData uri="http://schemas.openxmlformats.org/drawingml/2006/table">
            <a:tbl>
              <a:tblPr/>
              <a:tblGrid>
                <a:gridCol w="231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YO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MÍO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TUYO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ÉL / ELLA / USTED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SUYO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NOSOTROS / NOSOTRAS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NUESTRO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VOSOTROS / VOSOTRAS </a:t>
                      </a:r>
                      <a:r>
                        <a:rPr lang="en-US" sz="800" b="1" dirty="0">
                          <a:solidFill>
                            <a:srgbClr val="6F675C"/>
                          </a:solidFill>
                        </a:rPr>
                        <a:t> (solo España)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VUESTRO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ELLOS / ELLAS / USTEDES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2828"/>
                          </a:solidFill>
                        </a:rPr>
                        <a:t>&gt;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B45"/>
                          </a:solidFill>
                        </a:rPr>
                        <a:t>SUYO / A / OS / 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863322" y="4846320"/>
            <a:ext cx="48254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después del verbo o del sustantivo, y pueden ir solos.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POSESIVOS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Practicando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6" cy="2103120"/>
        </p:xfrm>
        <a:graphic>
          <a:graphicData uri="http://schemas.openxmlformats.org/drawingml/2006/table">
            <a:tbl>
              <a:tblPr/>
              <a:tblGrid>
                <a:gridCol w="559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Antes del sustantivo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Después del verbo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mochila.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mochila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mía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chaqueta.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chaqueta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tuya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libro.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libro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suyo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nuestras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llaves.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llaves son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nuestras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88620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02920" y="3886200"/>
            <a:ext cx="54864" cy="9144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Concuerdan con la cosa, no con el dueño: </a:t>
            </a: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mochila es </a:t>
            </a: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aunque el dueño sea Pedro.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892040"/>
            <a:ext cx="11185855" cy="1051560"/>
          </a:xfrm>
          <a:prstGeom prst="roundRect">
            <a:avLst>
              <a:gd name="adj" fmla="val 5217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02920" y="4892040"/>
            <a:ext cx="54864" cy="10515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4892040"/>
            <a:ext cx="108200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ambiguo — ¿de él? ¿de ella? ¿de usted? ¿de ellos? La salida: volver a los tónicos — </a:t>
            </a: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él</a:t>
            </a: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ella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TEMA NUEVO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Descubre la pregunta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559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Respuesta en pantalla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Pregunta que reconstruyes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 llamo Nicolás.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 llamas?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Soy de Cusco.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dónde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eres?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Trabajo en un albergue.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trabajas?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Voy al mercado.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Adónde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vas?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 seis objetos.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Cuántos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objetos hay?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un cuaderno.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roja, la grande.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Cuál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es tu mochila?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de Camila.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quién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es?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INTERROGATIVOS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8 palabras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15544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40280" y="1554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1605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ADÓNDE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554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46920" y="15544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6469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2148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40280" y="21488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2D6E"/>
          </a:solidFill>
          <a:ln w="12700">
            <a:solidFill>
              <a:srgbClr val="2B2D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24028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QUIÉN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02920" y="292608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85800" y="2926080"/>
            <a:ext cx="108200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pide </a:t>
            </a: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(¿qué es?) · </a:t>
            </a: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cuál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pide </a:t>
            </a: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 dentro de un conjunto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(¿cuál es la tuya?)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54864" cy="7772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3840480"/>
            <a:ext cx="108200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</a:t>
            </a: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(¿dónde estás?) · </a:t>
            </a:r>
            <a:r>
              <a:rPr lang="en-US" sz="1600" i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adónde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exige </a:t>
            </a: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</a:t>
            </a:r>
            <a:r>
              <a:rPr lang="en-US" sz="16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(¿adónde vas?)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475488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Todos llevan acento cuando son pregunta.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 quién = quién + preposición — misma lógica de los tónicos.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BLOQUE A/B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podés repetir»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935230" cy="512064"/>
          </a:xfrm>
          <a:prstGeom prst="roundRect">
            <a:avLst>
              <a:gd name="adj" fmla="val 535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29184" cy="32918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620371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lee sus 10 frases en voz alta, una por una.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6935230" cy="512064"/>
          </a:xfrm>
          <a:prstGeom prst="roundRect">
            <a:avLst>
              <a:gd name="adj" fmla="val 535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329184" cy="32918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76272"/>
            <a:ext cx="620371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responde HABLANDO: dice la frase completa.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6935230" cy="512064"/>
          </a:xfrm>
          <a:prstGeom prst="roundRect">
            <a:avLst>
              <a:gd name="adj" fmla="val 535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2889504"/>
            <a:ext cx="329184" cy="32918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889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98064"/>
            <a:ext cx="620371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escribe en su celular lo que dice B.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419856"/>
            <a:ext cx="6935230" cy="512064"/>
          </a:xfrm>
          <a:prstGeom prst="roundRect">
            <a:avLst>
              <a:gd name="adj" fmla="val 535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" y="3511296"/>
            <a:ext cx="329184" cy="32918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3511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419856"/>
            <a:ext cx="620371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aprieta «Comprobar» y le dice la nota a B.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041648"/>
            <a:ext cx="6935230" cy="512064"/>
          </a:xfrm>
          <a:prstGeom prst="roundRect">
            <a:avLst>
              <a:gd name="adj" fmla="val 53571"/>
            </a:avLst>
          </a:prstGeom>
          <a:solidFill>
            <a:srgbClr val="F8EFDC"/>
          </a:solidFill>
          <a:ln w="12700">
            <a:solidFill>
              <a:srgbClr val="F8EF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40080" y="4133088"/>
            <a:ext cx="329184" cy="32918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041648"/>
            <a:ext cx="620371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Cambian: ahora B lee las suyas y corrige a A.</a:t>
            </a:r>
            <a:endParaRPr lang="en-US" sz="1350" dirty="0"/>
          </a:p>
        </p:txBody>
      </p:sp>
      <p:pic>
        <p:nvPicPr>
          <p:cNvPr id="24" name="Image 0" descr="C:/Users/juanm/AppData/Local/Temp/pptx_qr-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910" y="1554480"/>
            <a:ext cx="1828800" cy="1828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80391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pic>
        <p:nvPicPr>
          <p:cNvPr id="26" name="Image 1" descr="C:/Users/juanm/AppData/Local/Temp/pptx_qr-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910" y="3931920"/>
            <a:ext cx="1828800" cy="18288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03910" y="5806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REPASO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vimos hoy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5854" cy="3749040"/>
        </p:xfrm>
        <a:graphic>
          <a:graphicData uri="http://schemas.openxmlformats.org/drawingml/2006/table">
            <a:tbl>
              <a:tblPr/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Sistema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Formas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yo, tú, él…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siempre les pregunto lo mismo.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Átonos · directo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me, te, lo/la, nos, os, los/las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¿Tienes mi casaca? — Sí,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tengo.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Átonos · indirecto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me, te, le, nos, os, 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Nicolás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manda la casaca a Camila.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Tónicos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mí, ti, él…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¿De quién es? —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él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Reflexivos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me, te, se, nos, os, 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llamo Nicolás.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Posesivos · antes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mi, tu, su, nuestro…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mochila.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Posesivos · después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mío, tuyo, suyo, nuestro…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mochila es 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mía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Interrogativos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qué, cómo, cuál, quién…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r>
                        <a:rPr lang="en-US" sz="1100" b="1" dirty="0">
                          <a:solidFill>
                            <a:srgbClr val="D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quién</a:t>
                      </a:r>
                      <a:r>
                        <a:rPr lang="en-US" sz="1100" dirty="0">
                          <a:solidFill>
                            <a:srgbClr val="1A1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es el cuaderno?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25780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¿Podés decir que algo es tuyo?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que es de otra persona?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3320</Words>
  <Application>Microsoft Office PowerPoint</Application>
  <PresentationFormat>Widescreen</PresentationFormat>
  <Paragraphs>503</Paragraphs>
  <Slides>26</Slides>
  <Notes>26</Notes>
  <HiddenSlides>0</HiddenSlides>
  <MMClips>1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13 · ¿Es tuyo?</dc:title>
  <dc:subject>PptxGenJS Presentation</dc:subject>
  <dc:creator>Juan Antonio Morales</dc:creator>
  <cp:lastModifiedBy>Juan Antonio Morales</cp:lastModifiedBy>
  <cp:revision>2</cp:revision>
  <dcterms:created xsi:type="dcterms:W3CDTF">2026-08-22T05:33:43Z</dcterms:created>
  <dcterms:modified xsi:type="dcterms:W3CDTF">2026-08-24T02:21:51Z</dcterms:modified>
</cp:coreProperties>
</file>